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5" r:id="rId12"/>
  </p:sldIdLst>
  <p:sldSz cx="18288000" cy="10287000"/>
  <p:notesSz cx="6858000" cy="9144000"/>
  <p:embeddedFontLst>
    <p:embeddedFont>
      <p:font typeface="Barlow Semi-Bold" panose="020B0604020202020204" charset="0"/>
      <p:regular r:id="rId13"/>
    </p:embeddedFon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Inter Italics" panose="020B0604020202020204" charset="0"/>
      <p:regular r:id="rId16"/>
    </p:embeddedFont>
    <p:embeddedFont>
      <p:font typeface="Klein Bold" panose="020B0604020202020204" charset="0"/>
      <p:regular r:id="rId17"/>
    </p:embeddedFont>
    <p:embeddedFont>
      <p:font typeface="Poppins Bold" panose="020B0604020202020204" charset="0"/>
      <p:regular r:id="rId18"/>
    </p:embeddedFont>
    <p:embeddedFont>
      <p:font typeface="Roboto" panose="02000000000000000000" pitchFamily="2" charset="0"/>
      <p:regular r:id="rId19"/>
    </p:embeddedFont>
    <p:embeddedFont>
      <p:font typeface="Roboto Bold" panose="020B0604020202020204" charset="0"/>
      <p:regular r:id="rId20"/>
    </p:embeddedFont>
    <p:embeddedFont>
      <p:font typeface="Roboto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21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5" Type="http://schemas.openxmlformats.org/officeDocument/2006/relationships/image" Target="../media/image63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24" Type="http://schemas.openxmlformats.org/officeDocument/2006/relationships/image" Target="../media/image62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92.png"/><Relationship Id="rId21" Type="http://schemas.openxmlformats.org/officeDocument/2006/relationships/image" Target="../media/image110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image" Target="../media/image91.png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24" Type="http://schemas.openxmlformats.org/officeDocument/2006/relationships/hyperlink" Target="https://origin-red.vercel.app/priority" TargetMode="External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23" Type="http://schemas.openxmlformats.org/officeDocument/2006/relationships/image" Target="../media/image112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Relationship Id="rId22" Type="http://schemas.openxmlformats.org/officeDocument/2006/relationships/image" Target="../media/image1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128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image" Target="../media/image127.png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10" Type="http://schemas.openxmlformats.org/officeDocument/2006/relationships/image" Target="../media/image156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49.png"/><Relationship Id="rId7" Type="http://schemas.openxmlformats.org/officeDocument/2006/relationships/image" Target="../media/image157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10" Type="http://schemas.openxmlformats.org/officeDocument/2006/relationships/image" Target="../media/image160.png"/><Relationship Id="rId4" Type="http://schemas.openxmlformats.org/officeDocument/2006/relationships/image" Target="../media/image150.png"/><Relationship Id="rId9" Type="http://schemas.openxmlformats.org/officeDocument/2006/relationships/image" Target="../media/image1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2.png"/><Relationship Id="rId18" Type="http://schemas.openxmlformats.org/officeDocument/2006/relationships/image" Target="../media/image177.png"/><Relationship Id="rId3" Type="http://schemas.openxmlformats.org/officeDocument/2006/relationships/image" Target="../media/image162.png"/><Relationship Id="rId21" Type="http://schemas.openxmlformats.org/officeDocument/2006/relationships/image" Target="../media/image180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" Type="http://schemas.openxmlformats.org/officeDocument/2006/relationships/image" Target="../media/image161.png"/><Relationship Id="rId16" Type="http://schemas.openxmlformats.org/officeDocument/2006/relationships/image" Target="../media/image175.png"/><Relationship Id="rId20" Type="http://schemas.openxmlformats.org/officeDocument/2006/relationships/image" Target="../media/image1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4.png"/><Relationship Id="rId15" Type="http://schemas.openxmlformats.org/officeDocument/2006/relationships/image" Target="../media/image174.png"/><Relationship Id="rId10" Type="http://schemas.openxmlformats.org/officeDocument/2006/relationships/image" Target="../media/image169.png"/><Relationship Id="rId19" Type="http://schemas.openxmlformats.org/officeDocument/2006/relationships/image" Target="../media/image178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Relationship Id="rId22" Type="http://schemas.openxmlformats.org/officeDocument/2006/relationships/image" Target="../media/image1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8">
            <a:extLst>
              <a:ext uri="{FF2B5EF4-FFF2-40B4-BE49-F238E27FC236}">
                <a16:creationId xmlns:a16="http://schemas.microsoft.com/office/drawing/2014/main" id="{5416513F-D00E-0CD4-0698-2DB5BC048AF0}"/>
              </a:ext>
            </a:extLst>
          </p:cNvPr>
          <p:cNvSpPr/>
          <p:nvPr/>
        </p:nvSpPr>
        <p:spPr>
          <a:xfrm>
            <a:off x="10491021" y="8002590"/>
            <a:ext cx="7620000" cy="1504950"/>
          </a:xfrm>
          <a:custGeom>
            <a:avLst/>
            <a:gdLst/>
            <a:ahLst/>
            <a:cxnLst/>
            <a:rect l="l" t="t" r="r" b="b"/>
            <a:pathLst>
              <a:path w="7620000" h="1504950">
                <a:moveTo>
                  <a:pt x="0" y="0"/>
                </a:moveTo>
                <a:lnTo>
                  <a:pt x="7620000" y="0"/>
                </a:lnTo>
                <a:lnTo>
                  <a:pt x="7620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-1816596" y="1668292"/>
            <a:ext cx="18288000" cy="1031557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l">
              <a:lnSpc>
                <a:spcPts val="1679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964790" y="987032"/>
            <a:ext cx="114300" cy="4095750"/>
            <a:chOff x="0" y="0"/>
            <a:chExt cx="152400" cy="546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" cy="5461000"/>
            </a:xfrm>
            <a:custGeom>
              <a:avLst/>
              <a:gdLst/>
              <a:ahLst/>
              <a:cxnLst/>
              <a:rect l="l" t="t" r="r" b="b"/>
              <a:pathLst>
                <a:path w="152400" h="5461000">
                  <a:moveTo>
                    <a:pt x="0" y="0"/>
                  </a:moveTo>
                  <a:lnTo>
                    <a:pt x="152400" y="0"/>
                  </a:lnTo>
                  <a:lnTo>
                    <a:pt x="1524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E6A23C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24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28584" y="928627"/>
            <a:ext cx="10001250" cy="164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66"/>
              </a:lnSpc>
            </a:pPr>
            <a:r>
              <a:rPr lang="en-US" sz="111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VANRA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3668" y="2555800"/>
            <a:ext cx="9906000" cy="479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85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Visual AI Network for Rights Administration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8584" y="3110753"/>
            <a:ext cx="8572500" cy="37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 i="1" dirty="0">
                <a:solidFill>
                  <a:srgbClr val="F7F8F4"/>
                </a:solidFill>
                <a:latin typeface="Inter Italics"/>
                <a:ea typeface="Inter Italics"/>
                <a:cs typeface="Inter Italics"/>
                <a:sym typeface="Inter Italics"/>
              </a:rPr>
              <a:t>From scattered claims to explainable decisions.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8529837"/>
            <a:ext cx="7620000" cy="28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Data Science Club of VIT Bhopal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383000" y="9696450"/>
            <a:ext cx="952500" cy="22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1" spc="16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AF1A60-5B44-AD47-6D92-E4E12BC56DCE}"/>
              </a:ext>
            </a:extLst>
          </p:cNvPr>
          <p:cNvSpPr txBox="1"/>
          <p:nvPr/>
        </p:nvSpPr>
        <p:spPr>
          <a:xfrm>
            <a:off x="1214284" y="3607070"/>
            <a:ext cx="1011555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50" dirty="0">
                <a:solidFill>
                  <a:schemeClr val="accent6"/>
                </a:solidFill>
                <a:latin typeface="Inter Italics" panose="020B0604020202020204" charset="0"/>
                <a:ea typeface="Inter Italics" panose="020B0604020202020204" charset="0"/>
              </a:rPr>
              <a:t>Problem Statement: PS-7 </a:t>
            </a:r>
            <a:r>
              <a:rPr lang="en-IN" sz="2250" dirty="0">
                <a:solidFill>
                  <a:schemeClr val="bg1"/>
                </a:solidFill>
                <a:latin typeface="Inter Italics" panose="020B0604020202020204" charset="0"/>
                <a:ea typeface="Inter Italics" panose="020B0604020202020204" charset="0"/>
              </a:rPr>
              <a:t>- </a:t>
            </a:r>
            <a:r>
              <a:rPr lang="en-US" sz="2250" dirty="0">
                <a:solidFill>
                  <a:schemeClr val="bg1"/>
                </a:solidFill>
                <a:latin typeface="Inter Italics" panose="020B0604020202020204" charset="0"/>
                <a:ea typeface="Inter Italics" panose="020B0604020202020204" charset="0"/>
              </a:rPr>
              <a:t>Implementation of the Forest Rights Act is hard to track across states — claims, approvals, and land-use data are fragmented, making it difficult for officials to monitor progress and flag anomalies. </a:t>
            </a:r>
            <a:endParaRPr lang="en-IN" sz="2250" dirty="0">
              <a:solidFill>
                <a:schemeClr val="bg1"/>
              </a:solidFill>
              <a:latin typeface="Inter Italics" panose="020B0604020202020204" charset="0"/>
              <a:ea typeface="Inter Italics" panose="020B0604020202020204" charset="0"/>
            </a:endParaRPr>
          </a:p>
        </p:txBody>
      </p:sp>
      <p:sp>
        <p:nvSpPr>
          <p:cNvPr id="30" name="Freeform 8">
            <a:extLst>
              <a:ext uri="{FF2B5EF4-FFF2-40B4-BE49-F238E27FC236}">
                <a16:creationId xmlns:a16="http://schemas.microsoft.com/office/drawing/2014/main" id="{4279A482-CC28-18C3-A483-3C6B2B258888}"/>
              </a:ext>
            </a:extLst>
          </p:cNvPr>
          <p:cNvSpPr/>
          <p:nvPr/>
        </p:nvSpPr>
        <p:spPr>
          <a:xfrm>
            <a:off x="10491021" y="5491977"/>
            <a:ext cx="7620000" cy="1695980"/>
          </a:xfrm>
          <a:custGeom>
            <a:avLst/>
            <a:gdLst/>
            <a:ahLst/>
            <a:cxnLst/>
            <a:rect l="l" t="t" r="r" b="b"/>
            <a:pathLst>
              <a:path w="7620000" h="1504950">
                <a:moveTo>
                  <a:pt x="0" y="0"/>
                </a:moveTo>
                <a:lnTo>
                  <a:pt x="7620000" y="0"/>
                </a:lnTo>
                <a:lnTo>
                  <a:pt x="7620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B6D2BFA8-579A-3EC6-682E-B359074FCBF0}"/>
              </a:ext>
            </a:extLst>
          </p:cNvPr>
          <p:cNvSpPr txBox="1"/>
          <p:nvPr/>
        </p:nvSpPr>
        <p:spPr>
          <a:xfrm>
            <a:off x="11259117" y="5884161"/>
            <a:ext cx="6364224" cy="772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122"/>
              </a:lnSpc>
            </a:pPr>
            <a:r>
              <a:rPr lang="en-US" sz="2230" b="1" dirty="0">
                <a:solidFill>
                  <a:srgbClr val="FFFFFF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Origin Hackathon 2026 | </a:t>
            </a:r>
            <a:r>
              <a:rPr lang="en-US" sz="2230" b="1" dirty="0">
                <a:solidFill>
                  <a:srgbClr val="FFBD59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Problem Statement PS-7</a:t>
            </a:r>
          </a:p>
          <a:p>
            <a:pPr algn="l">
              <a:lnSpc>
                <a:spcPts val="3122"/>
              </a:lnSpc>
            </a:pPr>
            <a:r>
              <a:rPr lang="en-US" sz="2230" b="1" dirty="0">
                <a:solidFill>
                  <a:srgbClr val="FFFFFF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Data Science Club of VIT Bhopal</a:t>
            </a:r>
          </a:p>
        </p:txBody>
      </p:sp>
      <p:sp>
        <p:nvSpPr>
          <p:cNvPr id="37" name="Freeform 8">
            <a:extLst>
              <a:ext uri="{FF2B5EF4-FFF2-40B4-BE49-F238E27FC236}">
                <a16:creationId xmlns:a16="http://schemas.microsoft.com/office/drawing/2014/main" id="{C718FE19-D4A2-A442-B8AC-E2DE83C90D5C}"/>
              </a:ext>
            </a:extLst>
          </p:cNvPr>
          <p:cNvSpPr/>
          <p:nvPr/>
        </p:nvSpPr>
        <p:spPr>
          <a:xfrm>
            <a:off x="176979" y="7954806"/>
            <a:ext cx="7620000" cy="1504950"/>
          </a:xfrm>
          <a:custGeom>
            <a:avLst/>
            <a:gdLst/>
            <a:ahLst/>
            <a:cxnLst/>
            <a:rect l="l" t="t" r="r" b="b"/>
            <a:pathLst>
              <a:path w="7620000" h="1504950">
                <a:moveTo>
                  <a:pt x="0" y="0"/>
                </a:moveTo>
                <a:lnTo>
                  <a:pt x="7620000" y="0"/>
                </a:lnTo>
                <a:lnTo>
                  <a:pt x="7620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TextBox 9">
            <a:extLst>
              <a:ext uri="{FF2B5EF4-FFF2-40B4-BE49-F238E27FC236}">
                <a16:creationId xmlns:a16="http://schemas.microsoft.com/office/drawing/2014/main" id="{078AE496-3F1D-5EC1-D2D9-E4ED2DCBD82A}"/>
              </a:ext>
            </a:extLst>
          </p:cNvPr>
          <p:cNvSpPr txBox="1"/>
          <p:nvPr/>
        </p:nvSpPr>
        <p:spPr>
          <a:xfrm>
            <a:off x="653847" y="8220547"/>
            <a:ext cx="6364224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TEAM NAME: </a:t>
            </a:r>
            <a:r>
              <a:rPr lang="en-US" sz="2400" dirty="0">
                <a:solidFill>
                  <a:srgbClr val="FFC000"/>
                </a:solidFill>
                <a:latin typeface="Aptos" panose="020B0004020202020204" pitchFamily="34" charset="0"/>
              </a:rPr>
              <a:t>MAVERICK TRIO</a:t>
            </a:r>
          </a:p>
          <a:p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TEAM MEMBERS’ NAMES: </a:t>
            </a:r>
            <a:r>
              <a:rPr lang="en-US" sz="2400" dirty="0">
                <a:solidFill>
                  <a:srgbClr val="FFC000"/>
                </a:solidFill>
                <a:latin typeface="Aptos" panose="020B0004020202020204" pitchFamily="34" charset="0"/>
              </a:rPr>
              <a:t>UMANG PATEL, VARUN VAISH, MUNNA BABU ANSARI</a:t>
            </a:r>
            <a:endParaRPr lang="en-IN" sz="2400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41" name="Freeform 9">
            <a:extLst>
              <a:ext uri="{FF2B5EF4-FFF2-40B4-BE49-F238E27FC236}">
                <a16:creationId xmlns:a16="http://schemas.microsoft.com/office/drawing/2014/main" id="{D3BE878C-A478-0177-EDE5-ECAB8AED0124}"/>
              </a:ext>
            </a:extLst>
          </p:cNvPr>
          <p:cNvSpPr/>
          <p:nvPr/>
        </p:nvSpPr>
        <p:spPr>
          <a:xfrm>
            <a:off x="8534400" y="8054634"/>
            <a:ext cx="4847830" cy="1365689"/>
          </a:xfrm>
          <a:custGeom>
            <a:avLst/>
            <a:gdLst/>
            <a:ahLst/>
            <a:cxnLst/>
            <a:rect l="l" t="t" r="r" b="b"/>
            <a:pathLst>
              <a:path w="4581525" h="1076325">
                <a:moveTo>
                  <a:pt x="0" y="0"/>
                </a:moveTo>
                <a:lnTo>
                  <a:pt x="4581525" y="0"/>
                </a:lnTo>
                <a:lnTo>
                  <a:pt x="4581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3" name="Freeform 10">
            <a:extLst>
              <a:ext uri="{FF2B5EF4-FFF2-40B4-BE49-F238E27FC236}">
                <a16:creationId xmlns:a16="http://schemas.microsoft.com/office/drawing/2014/main" id="{C7CFE264-C537-DEAC-D6B2-B26D7E40A5C8}"/>
              </a:ext>
            </a:extLst>
          </p:cNvPr>
          <p:cNvSpPr/>
          <p:nvPr/>
        </p:nvSpPr>
        <p:spPr>
          <a:xfrm>
            <a:off x="8669428" y="8374171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5" name="TextBox 11">
            <a:extLst>
              <a:ext uri="{FF2B5EF4-FFF2-40B4-BE49-F238E27FC236}">
                <a16:creationId xmlns:a16="http://schemas.microsoft.com/office/drawing/2014/main" id="{2646F9B1-B4CE-6939-9B6C-BADD601ADF31}"/>
              </a:ext>
            </a:extLst>
          </p:cNvPr>
          <p:cNvSpPr txBox="1"/>
          <p:nvPr/>
        </p:nvSpPr>
        <p:spPr>
          <a:xfrm>
            <a:off x="9299305" y="8538310"/>
            <a:ext cx="3761670" cy="41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92"/>
              </a:lnSpc>
            </a:pPr>
            <a:r>
              <a:rPr lang="en-US" dirty="0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LIVE DEMO </a:t>
            </a:r>
            <a:r>
              <a:rPr lang="en-US" sz="2000" b="1" dirty="0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[ https://origin-red.vercel.app/ ]</a:t>
            </a:r>
          </a:p>
        </p:txBody>
      </p:sp>
      <p:sp>
        <p:nvSpPr>
          <p:cNvPr id="47" name="Freeform 12">
            <a:extLst>
              <a:ext uri="{FF2B5EF4-FFF2-40B4-BE49-F238E27FC236}">
                <a16:creationId xmlns:a16="http://schemas.microsoft.com/office/drawing/2014/main" id="{3161B836-D74B-EBEB-A13C-550732C392DA}"/>
              </a:ext>
            </a:extLst>
          </p:cNvPr>
          <p:cNvSpPr/>
          <p:nvPr/>
        </p:nvSpPr>
        <p:spPr>
          <a:xfrm>
            <a:off x="13265334" y="8161088"/>
            <a:ext cx="4362450" cy="1076325"/>
          </a:xfrm>
          <a:custGeom>
            <a:avLst/>
            <a:gdLst/>
            <a:ahLst/>
            <a:cxnLst/>
            <a:rect l="l" t="t" r="r" b="b"/>
            <a:pathLst>
              <a:path w="4362450" h="1076325">
                <a:moveTo>
                  <a:pt x="0" y="0"/>
                </a:moveTo>
                <a:lnTo>
                  <a:pt x="4362450" y="0"/>
                </a:lnTo>
                <a:lnTo>
                  <a:pt x="4362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9" name="Freeform 13">
            <a:extLst>
              <a:ext uri="{FF2B5EF4-FFF2-40B4-BE49-F238E27FC236}">
                <a16:creationId xmlns:a16="http://schemas.microsoft.com/office/drawing/2014/main" id="{08422506-246B-8170-BDEC-7A85898D8E9F}"/>
              </a:ext>
            </a:extLst>
          </p:cNvPr>
          <p:cNvSpPr/>
          <p:nvPr/>
        </p:nvSpPr>
        <p:spPr>
          <a:xfrm>
            <a:off x="13484409" y="8370638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51" name="TextBox 14">
            <a:extLst>
              <a:ext uri="{FF2B5EF4-FFF2-40B4-BE49-F238E27FC236}">
                <a16:creationId xmlns:a16="http://schemas.microsoft.com/office/drawing/2014/main" id="{56E4B98C-FB7E-EEEA-7E2D-A5CB76C4769B}"/>
              </a:ext>
            </a:extLst>
          </p:cNvPr>
          <p:cNvSpPr txBox="1"/>
          <p:nvPr/>
        </p:nvSpPr>
        <p:spPr>
          <a:xfrm>
            <a:off x="14097051" y="8409261"/>
            <a:ext cx="325526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92"/>
              </a:lnSpc>
            </a:pPr>
            <a:r>
              <a:rPr lang="en-US" sz="1200" b="1" dirty="0">
                <a:solidFill>
                  <a:srgbClr val="191919"/>
                </a:solidFill>
                <a:latin typeface="Klein Bold"/>
                <a:ea typeface="Klein Bold"/>
                <a:cs typeface="Klein Bold"/>
                <a:sym typeface="Klein Bold"/>
              </a:rPr>
              <a:t>GITHUB [https://github.com/umang25mei10037-coder/ORIGIN]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6D2DA24-EC6B-3B15-0966-E0A4184ED18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4211" y="235242"/>
            <a:ext cx="4141901" cy="1778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4944" y="685489"/>
            <a:ext cx="7571232" cy="134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29"/>
              </a:lnSpc>
            </a:pPr>
            <a:r>
              <a:rPr lang="en-US" sz="10029" b="1">
                <a:solidFill>
                  <a:srgbClr val="2F4838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4944" y="1970598"/>
            <a:ext cx="9838944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b="1">
                <a:solidFill>
                  <a:srgbClr val="2F4838"/>
                </a:solidFill>
                <a:latin typeface="Roboto Bold"/>
                <a:ea typeface="Roboto Bold"/>
                <a:cs typeface="Roboto Bold"/>
                <a:sym typeface="Roboto Bold"/>
              </a:rPr>
              <a:t>FRA implementation is fragmented across systems and slowing down justice.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2571750"/>
            <a:ext cx="10458450" cy="219075"/>
          </a:xfrm>
          <a:custGeom>
            <a:avLst/>
            <a:gdLst/>
            <a:ahLst/>
            <a:cxnLst/>
            <a:rect l="l" t="t" r="r" b="b"/>
            <a:pathLst>
              <a:path w="10458450" h="219075">
                <a:moveTo>
                  <a:pt x="0" y="0"/>
                </a:moveTo>
                <a:lnTo>
                  <a:pt x="10458450" y="0"/>
                </a:lnTo>
                <a:lnTo>
                  <a:pt x="1045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94944" y="3825569"/>
            <a:ext cx="3401568" cy="123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4"/>
              </a:lnSpc>
            </a:pPr>
            <a:r>
              <a:rPr lang="en-US" sz="9214" b="1">
                <a:solidFill>
                  <a:srgbClr val="0F4C3B"/>
                </a:solidFill>
                <a:latin typeface="Roboto Bold"/>
                <a:ea typeface="Roboto Bold"/>
                <a:cs typeface="Roboto Bold"/>
                <a:sym typeface="Roboto Bold"/>
              </a:rPr>
              <a:t>4.5M+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4944" y="5140420"/>
            <a:ext cx="3291840" cy="83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975" b="1">
                <a:solidFill>
                  <a:srgbClr val="0F4C3B"/>
                </a:solidFill>
                <a:latin typeface="Roboto Bold"/>
                <a:ea typeface="Roboto Bold"/>
                <a:cs typeface="Roboto Bold"/>
                <a:sym typeface="Roboto Bold"/>
              </a:rPr>
              <a:t>forest rights claims across India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9536" y="6220948"/>
            <a:ext cx="1938528" cy="34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Contextual scale</a:t>
            </a:r>
          </a:p>
        </p:txBody>
      </p:sp>
      <p:sp>
        <p:nvSpPr>
          <p:cNvPr id="10" name="Freeform 10"/>
          <p:cNvSpPr/>
          <p:nvPr/>
        </p:nvSpPr>
        <p:spPr>
          <a:xfrm>
            <a:off x="4572000" y="3000375"/>
            <a:ext cx="219075" cy="4505325"/>
          </a:xfrm>
          <a:custGeom>
            <a:avLst/>
            <a:gdLst/>
            <a:ahLst/>
            <a:cxnLst/>
            <a:rect l="l" t="t" r="r" b="b"/>
            <a:pathLst>
              <a:path w="219075" h="4505325">
                <a:moveTo>
                  <a:pt x="0" y="0"/>
                </a:moveTo>
                <a:lnTo>
                  <a:pt x="219075" y="0"/>
                </a:lnTo>
                <a:lnTo>
                  <a:pt x="2190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230368" y="5147428"/>
            <a:ext cx="4352544" cy="73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2F4838"/>
                </a:solidFill>
                <a:latin typeface="Roboto"/>
                <a:ea typeface="Roboto"/>
                <a:cs typeface="Roboto"/>
                <a:sym typeface="Roboto"/>
              </a:rPr>
              <a:t>Forest boundaries and revenue land records may </a:t>
            </a:r>
            <a:r>
              <a:rPr lang="en-US" sz="2124" b="1">
                <a:solidFill>
                  <a:srgbClr val="E6634C"/>
                </a:solidFill>
                <a:latin typeface="Roboto Bold"/>
                <a:ea typeface="Roboto Bold"/>
                <a:cs typeface="Roboto Bold"/>
                <a:sym typeface="Roboto Bold"/>
              </a:rPr>
              <a:t>not align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30368" y="6161269"/>
            <a:ext cx="5285232" cy="36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2F4838"/>
                </a:solidFill>
                <a:latin typeface="Roboto"/>
                <a:ea typeface="Roboto"/>
                <a:cs typeface="Roboto"/>
                <a:sym typeface="Roboto"/>
              </a:rPr>
              <a:t>Officials lack a </a:t>
            </a:r>
            <a:r>
              <a:rPr lang="en-US" sz="2124" b="1">
                <a:solidFill>
                  <a:srgbClr val="378DBD"/>
                </a:solidFill>
                <a:latin typeface="Roboto Bold"/>
                <a:ea typeface="Roboto Bold"/>
                <a:cs typeface="Roboto Bold"/>
                <a:sym typeface="Roboto Bold"/>
              </a:rPr>
              <a:t>unified prioritization</a:t>
            </a:r>
            <a:r>
              <a:rPr lang="en-US" sz="2124">
                <a:solidFill>
                  <a:srgbClr val="2F4838"/>
                </a:solidFill>
                <a:latin typeface="Roboto"/>
                <a:ea typeface="Roboto"/>
                <a:cs typeface="Roboto"/>
                <a:sym typeface="Roboto"/>
              </a:rPr>
              <a:t>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75504" y="6993166"/>
            <a:ext cx="5961888" cy="358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1">
                <a:solidFill>
                  <a:srgbClr val="0F4C3B"/>
                </a:solidFill>
                <a:latin typeface="Roboto Bold"/>
                <a:ea typeface="Roboto Bold"/>
                <a:cs typeface="Roboto Bold"/>
                <a:sym typeface="Roboto Bold"/>
              </a:rPr>
              <a:t>Data exists —</a:t>
            </a:r>
            <a:r>
              <a:rPr lang="en-US" sz="2017">
                <a:solidFill>
                  <a:srgbClr val="2F4838"/>
                </a:solidFill>
                <a:latin typeface="Roboto"/>
                <a:ea typeface="Roboto"/>
                <a:cs typeface="Roboto"/>
                <a:sym typeface="Roboto"/>
              </a:rPr>
              <a:t> but </a:t>
            </a:r>
            <a:r>
              <a:rPr lang="en-US" sz="2017" b="1">
                <a:solidFill>
                  <a:srgbClr val="E6634C"/>
                </a:solidFill>
                <a:latin typeface="Roboto Bold"/>
                <a:ea typeface="Roboto Bold"/>
                <a:cs typeface="Roboto Bold"/>
                <a:sym typeface="Roboto Bold"/>
              </a:rPr>
              <a:t>actionable intelligence is missing.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553444" y="906467"/>
            <a:ext cx="6543675" cy="6648450"/>
          </a:xfrm>
          <a:custGeom>
            <a:avLst/>
            <a:gdLst/>
            <a:ahLst/>
            <a:cxnLst/>
            <a:rect l="l" t="t" r="r" b="b"/>
            <a:pathLst>
              <a:path w="6543675" h="6648450">
                <a:moveTo>
                  <a:pt x="0" y="0"/>
                </a:moveTo>
                <a:lnTo>
                  <a:pt x="6543675" y="0"/>
                </a:lnTo>
                <a:lnTo>
                  <a:pt x="65436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62756" y="7903309"/>
            <a:ext cx="3714750" cy="1724025"/>
          </a:xfrm>
          <a:custGeom>
            <a:avLst/>
            <a:gdLst/>
            <a:ahLst/>
            <a:cxnLst/>
            <a:rect l="l" t="t" r="r" b="b"/>
            <a:pathLst>
              <a:path w="3714750" h="1724025">
                <a:moveTo>
                  <a:pt x="0" y="0"/>
                </a:moveTo>
                <a:lnTo>
                  <a:pt x="3714750" y="0"/>
                </a:lnTo>
                <a:lnTo>
                  <a:pt x="37147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71600" y="8390938"/>
            <a:ext cx="2114550" cy="787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</a:pPr>
            <a:r>
              <a:rPr lang="en-US" sz="2762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Fragmented Data</a:t>
            </a:r>
          </a:p>
        </p:txBody>
      </p:sp>
      <p:sp>
        <p:nvSpPr>
          <p:cNvPr id="17" name="Freeform 17"/>
          <p:cNvSpPr/>
          <p:nvPr/>
        </p:nvSpPr>
        <p:spPr>
          <a:xfrm>
            <a:off x="3914775" y="8572500"/>
            <a:ext cx="1095375" cy="428625"/>
          </a:xfrm>
          <a:custGeom>
            <a:avLst/>
            <a:gdLst/>
            <a:ahLst/>
            <a:cxnLst/>
            <a:rect l="l" t="t" r="r" b="b"/>
            <a:pathLst>
              <a:path w="1095375" h="42862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781550" y="7924800"/>
            <a:ext cx="3714750" cy="1724025"/>
          </a:xfrm>
          <a:custGeom>
            <a:avLst/>
            <a:gdLst/>
            <a:ahLst/>
            <a:cxnLst/>
            <a:rect l="l" t="t" r="r" b="b"/>
            <a:pathLst>
              <a:path w="3714750" h="1724025">
                <a:moveTo>
                  <a:pt x="0" y="0"/>
                </a:moveTo>
                <a:lnTo>
                  <a:pt x="3714750" y="0"/>
                </a:lnTo>
                <a:lnTo>
                  <a:pt x="37147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760720" y="8410213"/>
            <a:ext cx="1755648" cy="758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726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Processing Delays</a:t>
            </a:r>
          </a:p>
        </p:txBody>
      </p:sp>
      <p:sp>
        <p:nvSpPr>
          <p:cNvPr id="20" name="Freeform 20"/>
          <p:cNvSpPr/>
          <p:nvPr/>
        </p:nvSpPr>
        <p:spPr>
          <a:xfrm>
            <a:off x="8267700" y="8572500"/>
            <a:ext cx="1095375" cy="428625"/>
          </a:xfrm>
          <a:custGeom>
            <a:avLst/>
            <a:gdLst/>
            <a:ahLst/>
            <a:cxnLst/>
            <a:rect l="l" t="t" r="r" b="b"/>
            <a:pathLst>
              <a:path w="1095375" h="42862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144000" y="7924800"/>
            <a:ext cx="4143375" cy="1724025"/>
          </a:xfrm>
          <a:custGeom>
            <a:avLst/>
            <a:gdLst/>
            <a:ahLst/>
            <a:cxnLst/>
            <a:rect l="l" t="t" r="r" b="b"/>
            <a:pathLst>
              <a:path w="4143375" h="1724025">
                <a:moveTo>
                  <a:pt x="0" y="0"/>
                </a:moveTo>
                <a:lnTo>
                  <a:pt x="4143375" y="0"/>
                </a:lnTo>
                <a:lnTo>
                  <a:pt x="41433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710928" y="8400913"/>
            <a:ext cx="2962656" cy="767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69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Boundary &amp; Record Mismatches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058775" y="8572500"/>
            <a:ext cx="1095375" cy="428625"/>
          </a:xfrm>
          <a:custGeom>
            <a:avLst/>
            <a:gdLst/>
            <a:ahLst/>
            <a:cxnLst/>
            <a:rect l="l" t="t" r="r" b="b"/>
            <a:pathLst>
              <a:path w="1095375" h="42862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925550" y="7924800"/>
            <a:ext cx="3933825" cy="1724025"/>
          </a:xfrm>
          <a:custGeom>
            <a:avLst/>
            <a:gdLst/>
            <a:ahLst/>
            <a:cxnLst/>
            <a:rect l="l" t="t" r="r" b="b"/>
            <a:pathLst>
              <a:path w="3933825" h="1724025">
                <a:moveTo>
                  <a:pt x="0" y="0"/>
                </a:moveTo>
                <a:lnTo>
                  <a:pt x="3933825" y="0"/>
                </a:lnTo>
                <a:lnTo>
                  <a:pt x="393382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4977872" y="8420864"/>
            <a:ext cx="1901952" cy="727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Difficult Prioritization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30368" y="3079482"/>
            <a:ext cx="3749040" cy="35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2F4838"/>
                </a:solidFill>
                <a:latin typeface="Roboto"/>
                <a:ea typeface="Roboto"/>
                <a:cs typeface="Roboto"/>
                <a:sym typeface="Roboto"/>
              </a:rPr>
              <a:t>Records are </a:t>
            </a:r>
            <a:r>
              <a:rPr lang="en-US" sz="2088" b="1">
                <a:solidFill>
                  <a:srgbClr val="0F4C3B"/>
                </a:solidFill>
                <a:latin typeface="Roboto Bold"/>
                <a:ea typeface="Roboto Bold"/>
                <a:cs typeface="Roboto Bold"/>
                <a:sym typeface="Roboto Bold"/>
              </a:rPr>
              <a:t>fragmented</a:t>
            </a:r>
            <a:r>
              <a:rPr lang="en-US" sz="2088">
                <a:solidFill>
                  <a:srgbClr val="2F4838"/>
                </a:solidFill>
                <a:latin typeface="Roboto"/>
                <a:ea typeface="Roboto"/>
                <a:cs typeface="Roboto"/>
                <a:sym typeface="Roboto"/>
              </a:rPr>
              <a:t> across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30368" y="3449814"/>
            <a:ext cx="5486400" cy="35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2F4838"/>
                </a:solidFill>
                <a:latin typeface="Roboto"/>
                <a:ea typeface="Roboto"/>
                <a:cs typeface="Roboto"/>
                <a:sym typeface="Roboto"/>
              </a:rPr>
              <a:t>Gram Sabha, SDLC, and District Administration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30368" y="4103869"/>
            <a:ext cx="4242816" cy="36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2F4838"/>
                </a:solidFill>
                <a:latin typeface="Roboto"/>
                <a:ea typeface="Roboto"/>
                <a:cs typeface="Roboto"/>
                <a:sym typeface="Roboto"/>
              </a:rPr>
              <a:t>Processing delays often exceed the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46039" y="4484777"/>
            <a:ext cx="2194560" cy="36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b="1" dirty="0">
                <a:solidFill>
                  <a:srgbClr val="E6953D"/>
                </a:solidFill>
                <a:latin typeface="Roboto Bold"/>
                <a:ea typeface="Roboto Bold"/>
                <a:cs typeface="Roboto Bold"/>
                <a:sym typeface="Roboto Bold"/>
              </a:rPr>
              <a:t>180-day guideline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D795A2D-452F-BC86-08B1-B6A9FC4B1F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383" y="981394"/>
            <a:ext cx="6543674" cy="65436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6928" y="445198"/>
            <a:ext cx="11448288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68"/>
              </a:lnSpc>
            </a:pPr>
            <a:r>
              <a:rPr lang="en-US" sz="7973" b="1" spc="-159">
                <a:solidFill>
                  <a:srgbClr val="0F5433"/>
                </a:solidFill>
                <a:latin typeface="Roboto Bold"/>
                <a:ea typeface="Roboto Bold"/>
                <a:cs typeface="Roboto Bold"/>
                <a:sym typeface="Roboto Bold"/>
              </a:rPr>
              <a:t>Our Solution — VANRA.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1950751"/>
            <a:ext cx="6839712" cy="83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1"/>
              </a:lnSpc>
            </a:pPr>
            <a:r>
              <a:rPr lang="en-US" sz="2372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VANRA brings together forest, land and claim data, turns it into explainable insights, and guides action.</a:t>
            </a:r>
          </a:p>
        </p:txBody>
      </p:sp>
      <p:sp>
        <p:nvSpPr>
          <p:cNvPr id="5" name="Freeform 5"/>
          <p:cNvSpPr/>
          <p:nvPr/>
        </p:nvSpPr>
        <p:spPr>
          <a:xfrm>
            <a:off x="428625" y="3209925"/>
            <a:ext cx="2190750" cy="1076325"/>
          </a:xfrm>
          <a:custGeom>
            <a:avLst/>
            <a:gdLst/>
            <a:ahLst/>
            <a:cxnLst/>
            <a:rect l="l" t="t" r="r" b="b"/>
            <a:pathLst>
              <a:path w="2190750" h="1076325">
                <a:moveTo>
                  <a:pt x="0" y="0"/>
                </a:moveTo>
                <a:lnTo>
                  <a:pt x="2190750" y="0"/>
                </a:lnTo>
                <a:lnTo>
                  <a:pt x="2190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80516" y="3583878"/>
            <a:ext cx="876300" cy="369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</a:t>
            </a:r>
          </a:p>
        </p:txBody>
      </p:sp>
      <p:sp>
        <p:nvSpPr>
          <p:cNvPr id="7" name="Freeform 7"/>
          <p:cNvSpPr/>
          <p:nvPr/>
        </p:nvSpPr>
        <p:spPr>
          <a:xfrm>
            <a:off x="428625" y="4067175"/>
            <a:ext cx="2190750" cy="3867150"/>
          </a:xfrm>
          <a:custGeom>
            <a:avLst/>
            <a:gdLst/>
            <a:ahLst/>
            <a:cxnLst/>
            <a:rect l="l" t="t" r="r" b="b"/>
            <a:pathLst>
              <a:path w="2190750" h="3867150">
                <a:moveTo>
                  <a:pt x="0" y="0"/>
                </a:moveTo>
                <a:lnTo>
                  <a:pt x="2190750" y="0"/>
                </a:lnTo>
                <a:lnTo>
                  <a:pt x="21907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86384" y="4628957"/>
            <a:ext cx="1572768" cy="2822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Forest &amp; spatial Revenue land records</a:t>
            </a:r>
          </a:p>
          <a:p>
            <a:pPr algn="l">
              <a:lnSpc>
                <a:spcPts val="2477"/>
              </a:lnSpc>
            </a:pPr>
            <a:r>
              <a:rPr lang="en-US" sz="1769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FRA claim information</a:t>
            </a:r>
          </a:p>
          <a:p>
            <a:pPr algn="l">
              <a:lnSpc>
                <a:spcPts val="2477"/>
              </a:lnSpc>
            </a:pPr>
            <a:r>
              <a:rPr lang="en-US" sz="1769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Processing timelines</a:t>
            </a:r>
          </a:p>
          <a:p>
            <a:pPr algn="l">
              <a:lnSpc>
                <a:spcPts val="2477"/>
              </a:lnSpc>
            </a:pPr>
            <a:r>
              <a:rPr lang="en-US" sz="1769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Geographic patterns</a:t>
            </a:r>
          </a:p>
        </p:txBody>
      </p:sp>
      <p:sp>
        <p:nvSpPr>
          <p:cNvPr id="9" name="Freeform 9"/>
          <p:cNvSpPr/>
          <p:nvPr/>
        </p:nvSpPr>
        <p:spPr>
          <a:xfrm>
            <a:off x="3048000" y="3209925"/>
            <a:ext cx="2181225" cy="1076325"/>
          </a:xfrm>
          <a:custGeom>
            <a:avLst/>
            <a:gdLst/>
            <a:ahLst/>
            <a:cxnLst/>
            <a:rect l="l" t="t" r="r" b="b"/>
            <a:pathLst>
              <a:path w="2181225" h="1076325">
                <a:moveTo>
                  <a:pt x="0" y="0"/>
                </a:moveTo>
                <a:lnTo>
                  <a:pt x="2181225" y="0"/>
                </a:lnTo>
                <a:lnTo>
                  <a:pt x="2181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486150" y="3541184"/>
            <a:ext cx="1323594" cy="356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159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ANALYSIS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048000" y="4067175"/>
            <a:ext cx="2181225" cy="3867150"/>
          </a:xfrm>
          <a:custGeom>
            <a:avLst/>
            <a:gdLst/>
            <a:ahLst/>
            <a:cxnLst/>
            <a:rect l="l" t="t" r="r" b="b"/>
            <a:pathLst>
              <a:path w="2181225" h="3867150">
                <a:moveTo>
                  <a:pt x="0" y="0"/>
                </a:moveTo>
                <a:lnTo>
                  <a:pt x="2181225" y="0"/>
                </a:lnTo>
                <a:lnTo>
                  <a:pt x="21812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383280" y="4578094"/>
            <a:ext cx="1389888" cy="2193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AI models integrate and cross-check data to detect mismatches, delays, and risk signals.</a:t>
            </a:r>
          </a:p>
        </p:txBody>
      </p:sp>
      <p:sp>
        <p:nvSpPr>
          <p:cNvPr id="13" name="Freeform 13"/>
          <p:cNvSpPr/>
          <p:nvPr/>
        </p:nvSpPr>
        <p:spPr>
          <a:xfrm>
            <a:off x="5657850" y="3209925"/>
            <a:ext cx="2181225" cy="1076325"/>
          </a:xfrm>
          <a:custGeom>
            <a:avLst/>
            <a:gdLst/>
            <a:ahLst/>
            <a:cxnLst/>
            <a:rect l="l" t="t" r="r" b="b"/>
            <a:pathLst>
              <a:path w="2181225" h="1076325">
                <a:moveTo>
                  <a:pt x="0" y="0"/>
                </a:moveTo>
                <a:lnTo>
                  <a:pt x="2181225" y="0"/>
                </a:lnTo>
                <a:lnTo>
                  <a:pt x="2181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657850" y="4067175"/>
            <a:ext cx="2181225" cy="3867150"/>
          </a:xfrm>
          <a:custGeom>
            <a:avLst/>
            <a:gdLst/>
            <a:ahLst/>
            <a:cxnLst/>
            <a:rect l="l" t="t" r="r" b="b"/>
            <a:pathLst>
              <a:path w="2181225" h="3867150">
                <a:moveTo>
                  <a:pt x="0" y="0"/>
                </a:moveTo>
                <a:lnTo>
                  <a:pt x="2181225" y="0"/>
                </a:lnTo>
                <a:lnTo>
                  <a:pt x="21812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961888" y="4587431"/>
            <a:ext cx="1627632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Areas and cases are scored by severity and urgency.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67700" y="3209925"/>
            <a:ext cx="2190750" cy="1076325"/>
          </a:xfrm>
          <a:custGeom>
            <a:avLst/>
            <a:gdLst/>
            <a:ahLst/>
            <a:cxnLst/>
            <a:rect l="l" t="t" r="r" b="b"/>
            <a:pathLst>
              <a:path w="2190750" h="1076325">
                <a:moveTo>
                  <a:pt x="0" y="0"/>
                </a:moveTo>
                <a:lnTo>
                  <a:pt x="2190750" y="0"/>
                </a:lnTo>
                <a:lnTo>
                  <a:pt x="2190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381619" y="3510098"/>
            <a:ext cx="1841373" cy="344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053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EXPLANATION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8267700" y="4067175"/>
            <a:ext cx="2190750" cy="3867150"/>
          </a:xfrm>
          <a:custGeom>
            <a:avLst/>
            <a:gdLst/>
            <a:ahLst/>
            <a:cxnLst/>
            <a:rect l="l" t="t" r="r" b="b"/>
            <a:pathLst>
              <a:path w="2190750" h="3867150">
                <a:moveTo>
                  <a:pt x="0" y="0"/>
                </a:moveTo>
                <a:lnTo>
                  <a:pt x="2190750" y="0"/>
                </a:lnTo>
                <a:lnTo>
                  <a:pt x="21907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540496" y="4593336"/>
            <a:ext cx="1444752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Clear reasons show what drove the flag, with evidence you can trust.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877550" y="3209925"/>
            <a:ext cx="2190750" cy="1076325"/>
          </a:xfrm>
          <a:custGeom>
            <a:avLst/>
            <a:gdLst/>
            <a:ahLst/>
            <a:cxnLst/>
            <a:rect l="l" t="t" r="r" b="b"/>
            <a:pathLst>
              <a:path w="2190750" h="1076325">
                <a:moveTo>
                  <a:pt x="0" y="0"/>
                </a:moveTo>
                <a:lnTo>
                  <a:pt x="2190750" y="0"/>
                </a:lnTo>
                <a:lnTo>
                  <a:pt x="2190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877550" y="4067175"/>
            <a:ext cx="2190750" cy="3867150"/>
          </a:xfrm>
          <a:custGeom>
            <a:avLst/>
            <a:gdLst/>
            <a:ahLst/>
            <a:cxnLst/>
            <a:rect l="l" t="t" r="r" b="b"/>
            <a:pathLst>
              <a:path w="2190750" h="3867150">
                <a:moveTo>
                  <a:pt x="0" y="0"/>
                </a:moveTo>
                <a:lnTo>
                  <a:pt x="2190750" y="0"/>
                </a:lnTo>
                <a:lnTo>
                  <a:pt x="21907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155680" y="4707636"/>
            <a:ext cx="1536192" cy="14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Prioritized worklists help teams focus on what matters most.</a:t>
            </a:r>
          </a:p>
        </p:txBody>
      </p:sp>
      <p:sp>
        <p:nvSpPr>
          <p:cNvPr id="23" name="Freeform 23"/>
          <p:cNvSpPr/>
          <p:nvPr/>
        </p:nvSpPr>
        <p:spPr>
          <a:xfrm>
            <a:off x="2390775" y="3638550"/>
            <a:ext cx="876300" cy="219075"/>
          </a:xfrm>
          <a:custGeom>
            <a:avLst/>
            <a:gdLst/>
            <a:ahLst/>
            <a:cxnLst/>
            <a:rect l="l" t="t" r="r" b="b"/>
            <a:pathLst>
              <a:path w="876300" h="219075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5000625" y="3638550"/>
            <a:ext cx="885825" cy="219075"/>
          </a:xfrm>
          <a:custGeom>
            <a:avLst/>
            <a:gdLst/>
            <a:ahLst/>
            <a:cxnLst/>
            <a:rect l="l" t="t" r="r" b="b"/>
            <a:pathLst>
              <a:path w="885825" h="219075">
                <a:moveTo>
                  <a:pt x="0" y="0"/>
                </a:moveTo>
                <a:lnTo>
                  <a:pt x="885825" y="0"/>
                </a:lnTo>
                <a:lnTo>
                  <a:pt x="885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620000" y="3638550"/>
            <a:ext cx="876300" cy="219075"/>
          </a:xfrm>
          <a:custGeom>
            <a:avLst/>
            <a:gdLst/>
            <a:ahLst/>
            <a:cxnLst/>
            <a:rect l="l" t="t" r="r" b="b"/>
            <a:pathLst>
              <a:path w="876300" h="219075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229850" y="3638550"/>
            <a:ext cx="876300" cy="219075"/>
          </a:xfrm>
          <a:custGeom>
            <a:avLst/>
            <a:gdLst/>
            <a:ahLst/>
            <a:cxnLst/>
            <a:rect l="l" t="t" r="r" b="b"/>
            <a:pathLst>
              <a:path w="876300" h="219075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277850" y="1924050"/>
            <a:ext cx="228600" cy="6219825"/>
          </a:xfrm>
          <a:custGeom>
            <a:avLst/>
            <a:gdLst/>
            <a:ahLst/>
            <a:cxnLst/>
            <a:rect l="l" t="t" r="r" b="b"/>
            <a:pathLst>
              <a:path w="228600" h="6219825">
                <a:moveTo>
                  <a:pt x="0" y="0"/>
                </a:moveTo>
                <a:lnTo>
                  <a:pt x="228600" y="0"/>
                </a:lnTo>
                <a:lnTo>
                  <a:pt x="228600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3880592" y="2190487"/>
            <a:ext cx="3767328" cy="36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b="1">
                <a:solidFill>
                  <a:srgbClr val="0F5433"/>
                </a:solidFill>
                <a:latin typeface="Roboto Bold"/>
                <a:ea typeface="Roboto Bold"/>
                <a:cs typeface="Roboto Bold"/>
                <a:sym typeface="Roboto Bold"/>
              </a:rPr>
              <a:t>Key questions VANRA answers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880592" y="2904722"/>
            <a:ext cx="2139696" cy="985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6"/>
              </a:lnSpc>
            </a:pPr>
            <a:r>
              <a:rPr lang="en-US" sz="2833" b="1">
                <a:solidFill>
                  <a:srgbClr val="E48D37"/>
                </a:solidFill>
                <a:latin typeface="Roboto Bold"/>
                <a:ea typeface="Roboto Bold"/>
                <a:cs typeface="Roboto Bold"/>
                <a:sym typeface="Roboto Bold"/>
              </a:rPr>
              <a:t>WHERE</a:t>
            </a:r>
            <a:r>
              <a:rPr lang="en-US" sz="2833" b="1">
                <a:solidFill>
                  <a:srgbClr val="0F5433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833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</a:p>
          <a:p>
            <a:pPr algn="l">
              <a:lnSpc>
                <a:spcPts val="3966"/>
              </a:lnSpc>
            </a:pPr>
            <a:r>
              <a:rPr lang="en-US" sz="2833" b="1">
                <a:solidFill>
                  <a:srgbClr val="0F5433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problem?</a:t>
            </a:r>
          </a:p>
        </p:txBody>
      </p:sp>
      <p:sp>
        <p:nvSpPr>
          <p:cNvPr id="30" name="Freeform 30"/>
          <p:cNvSpPr/>
          <p:nvPr/>
        </p:nvSpPr>
        <p:spPr>
          <a:xfrm>
            <a:off x="13716000" y="4067175"/>
            <a:ext cx="4143375" cy="219075"/>
          </a:xfrm>
          <a:custGeom>
            <a:avLst/>
            <a:gdLst/>
            <a:ahLst/>
            <a:cxnLst/>
            <a:rect l="l" t="t" r="r" b="b"/>
            <a:pathLst>
              <a:path w="4143375" h="2190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3880592" y="4327203"/>
            <a:ext cx="1938528" cy="102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5"/>
              </a:lnSpc>
            </a:pPr>
            <a:r>
              <a:rPr lang="en-US" sz="2939" b="1">
                <a:solidFill>
                  <a:srgbClr val="E48D37"/>
                </a:solidFill>
                <a:latin typeface="Roboto Bold"/>
                <a:ea typeface="Roboto Bold"/>
                <a:cs typeface="Roboto Bold"/>
                <a:sym typeface="Roboto Bold"/>
              </a:rPr>
              <a:t>WHY</a:t>
            </a:r>
            <a:r>
              <a:rPr lang="en-US" sz="2939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 was it</a:t>
            </a:r>
          </a:p>
          <a:p>
            <a:pPr algn="l">
              <a:lnSpc>
                <a:spcPts val="4115"/>
              </a:lnSpc>
            </a:pPr>
            <a:r>
              <a:rPr lang="en-US" sz="2939" b="1">
                <a:solidFill>
                  <a:srgbClr val="0F5433"/>
                </a:solidFill>
                <a:latin typeface="Roboto Bold"/>
                <a:ea typeface="Roboto Bold"/>
                <a:cs typeface="Roboto Bold"/>
                <a:sym typeface="Roboto Bold"/>
              </a:rPr>
              <a:t>flagged?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716000" y="5353050"/>
            <a:ext cx="4143375" cy="219075"/>
          </a:xfrm>
          <a:custGeom>
            <a:avLst/>
            <a:gdLst/>
            <a:ahLst/>
            <a:cxnLst/>
            <a:rect l="l" t="t" r="r" b="b"/>
            <a:pathLst>
              <a:path w="4143375" h="2190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3880592" y="5801275"/>
            <a:ext cx="3127248" cy="490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6"/>
              </a:lnSpc>
            </a:pPr>
            <a:r>
              <a:rPr lang="en-US" sz="2833" b="1">
                <a:solidFill>
                  <a:srgbClr val="E48D37"/>
                </a:solidFill>
                <a:latin typeface="Roboto Bold"/>
                <a:ea typeface="Roboto Bold"/>
                <a:cs typeface="Roboto Bold"/>
                <a:sym typeface="Roboto Bold"/>
              </a:rPr>
              <a:t>HOW URGENT</a:t>
            </a:r>
            <a:r>
              <a:rPr lang="en-US" sz="2833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 is it?</a:t>
            </a:r>
          </a:p>
        </p:txBody>
      </p:sp>
      <p:sp>
        <p:nvSpPr>
          <p:cNvPr id="34" name="Freeform 34"/>
          <p:cNvSpPr/>
          <p:nvPr/>
        </p:nvSpPr>
        <p:spPr>
          <a:xfrm>
            <a:off x="13716000" y="6429375"/>
            <a:ext cx="4143375" cy="219075"/>
          </a:xfrm>
          <a:custGeom>
            <a:avLst/>
            <a:gdLst/>
            <a:ahLst/>
            <a:cxnLst/>
            <a:rect l="l" t="t" r="r" b="b"/>
            <a:pathLst>
              <a:path w="4143375" h="2190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3880592" y="6784134"/>
            <a:ext cx="3474720" cy="100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sz="2868" b="1">
                <a:solidFill>
                  <a:srgbClr val="0F5433"/>
                </a:solidFill>
                <a:latin typeface="Roboto Bold"/>
                <a:ea typeface="Roboto Bold"/>
                <a:cs typeface="Roboto Bold"/>
                <a:sym typeface="Roboto Bold"/>
              </a:rPr>
              <a:t>WHAT</a:t>
            </a:r>
            <a:r>
              <a:rPr lang="en-US" sz="2868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868" b="1">
                <a:solidFill>
                  <a:srgbClr val="0F5433"/>
                </a:solidFill>
                <a:latin typeface="Roboto Bold"/>
                <a:ea typeface="Roboto Bold"/>
                <a:cs typeface="Roboto Bold"/>
                <a:sym typeface="Roboto Bold"/>
              </a:rPr>
              <a:t>should</a:t>
            </a:r>
          </a:p>
          <a:p>
            <a:pPr algn="l">
              <a:lnSpc>
                <a:spcPts val="4016"/>
              </a:lnSpc>
            </a:pPr>
            <a:r>
              <a:rPr lang="en-US" sz="2868" b="1">
                <a:solidFill>
                  <a:srgbClr val="0F5433"/>
                </a:solidFill>
                <a:latin typeface="Roboto Bold"/>
                <a:ea typeface="Roboto Bold"/>
                <a:cs typeface="Roboto Bold"/>
                <a:sym typeface="Roboto Bold"/>
              </a:rPr>
              <a:t>be investigated first?</a:t>
            </a:r>
          </a:p>
        </p:txBody>
      </p:sp>
      <p:sp>
        <p:nvSpPr>
          <p:cNvPr id="36" name="Freeform 36"/>
          <p:cNvSpPr/>
          <p:nvPr/>
        </p:nvSpPr>
        <p:spPr>
          <a:xfrm>
            <a:off x="428625" y="8143875"/>
            <a:ext cx="17430750" cy="1714500"/>
          </a:xfrm>
          <a:custGeom>
            <a:avLst/>
            <a:gdLst/>
            <a:ahLst/>
            <a:cxnLst/>
            <a:rect l="l" t="t" r="r" b="b"/>
            <a:pathLst>
              <a:path w="17430750" h="1714500">
                <a:moveTo>
                  <a:pt x="0" y="0"/>
                </a:moveTo>
                <a:lnTo>
                  <a:pt x="17430750" y="0"/>
                </a:lnTo>
                <a:lnTo>
                  <a:pt x="174307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896112" y="8604951"/>
            <a:ext cx="6675120" cy="45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 b="1">
                <a:solidFill>
                  <a:srgbClr val="0F5433"/>
                </a:solidFill>
                <a:latin typeface="Roboto Bold"/>
                <a:ea typeface="Roboto Bold"/>
                <a:cs typeface="Roboto Bold"/>
                <a:sym typeface="Roboto Bold"/>
              </a:rPr>
              <a:t>VANRA does not grant or reject forest rights.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96112" y="9111213"/>
            <a:ext cx="10625328" cy="43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>
                <a:solidFill>
                  <a:srgbClr val="0F5433"/>
                </a:solidFill>
                <a:latin typeface="Roboto"/>
                <a:ea typeface="Roboto"/>
                <a:cs typeface="Roboto"/>
                <a:sym typeface="Roboto"/>
              </a:rPr>
              <a:t>It supports authorized decision-makers with explainable, actionable insights.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73952" y="3523485"/>
            <a:ext cx="603504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15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RISK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315700" y="3510098"/>
            <a:ext cx="1156716" cy="369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5216" y="674385"/>
            <a:ext cx="11378184" cy="1118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398"/>
              </a:lnSpc>
            </a:pPr>
            <a:r>
              <a:rPr lang="en-US" sz="8398" b="1" dirty="0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VANRA Workflow.</a:t>
            </a:r>
          </a:p>
        </p:txBody>
      </p:sp>
      <p:sp>
        <p:nvSpPr>
          <p:cNvPr id="4" name="Freeform 4"/>
          <p:cNvSpPr/>
          <p:nvPr/>
        </p:nvSpPr>
        <p:spPr>
          <a:xfrm>
            <a:off x="428625" y="2352675"/>
            <a:ext cx="2409825" cy="1295400"/>
          </a:xfrm>
          <a:custGeom>
            <a:avLst/>
            <a:gdLst/>
            <a:ahLst/>
            <a:cxnLst/>
            <a:rect l="l" t="t" r="r" b="b"/>
            <a:pathLst>
              <a:path w="2409825" h="1295400">
                <a:moveTo>
                  <a:pt x="0" y="0"/>
                </a:moveTo>
                <a:lnTo>
                  <a:pt x="2409825" y="0"/>
                </a:lnTo>
                <a:lnTo>
                  <a:pt x="24098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80160" y="2646901"/>
            <a:ext cx="694944" cy="63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7"/>
              </a:lnSpc>
            </a:pPr>
            <a:r>
              <a:rPr lang="en-US" sz="474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6" name="Freeform 6"/>
          <p:cNvSpPr/>
          <p:nvPr/>
        </p:nvSpPr>
        <p:spPr>
          <a:xfrm>
            <a:off x="428625" y="3429000"/>
            <a:ext cx="2409825" cy="4933950"/>
          </a:xfrm>
          <a:custGeom>
            <a:avLst/>
            <a:gdLst/>
            <a:ahLst/>
            <a:cxnLst/>
            <a:rect l="l" t="t" r="r" b="b"/>
            <a:pathLst>
              <a:path w="2409825" h="4933950">
                <a:moveTo>
                  <a:pt x="0" y="0"/>
                </a:moveTo>
                <a:lnTo>
                  <a:pt x="2409825" y="0"/>
                </a:lnTo>
                <a:lnTo>
                  <a:pt x="24098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04672" y="3954801"/>
            <a:ext cx="1444752" cy="338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2443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Data Input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4672" y="5207640"/>
            <a:ext cx="1481328" cy="1082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4"/>
              </a:lnSpc>
            </a:pPr>
            <a:r>
              <a:rPr lang="en-US" sz="1663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Forest Maps +</a:t>
            </a:r>
          </a:p>
          <a:p>
            <a:pPr algn="l">
              <a:lnSpc>
                <a:spcPts val="2994"/>
              </a:lnSpc>
            </a:pPr>
            <a:r>
              <a:rPr lang="en-US" sz="1663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Land Records +</a:t>
            </a:r>
          </a:p>
          <a:p>
            <a:pPr algn="l">
              <a:lnSpc>
                <a:spcPts val="2994"/>
              </a:lnSpc>
            </a:pPr>
            <a:r>
              <a:rPr lang="en-US" sz="1663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FRA Claims</a:t>
            </a:r>
          </a:p>
        </p:txBody>
      </p:sp>
      <p:sp>
        <p:nvSpPr>
          <p:cNvPr id="9" name="Freeform 9"/>
          <p:cNvSpPr/>
          <p:nvPr/>
        </p:nvSpPr>
        <p:spPr>
          <a:xfrm>
            <a:off x="647700" y="7286625"/>
            <a:ext cx="2190750" cy="428625"/>
          </a:xfrm>
          <a:custGeom>
            <a:avLst/>
            <a:gdLst/>
            <a:ahLst/>
            <a:cxnLst/>
            <a:rect l="l" t="t" r="r" b="b"/>
            <a:pathLst>
              <a:path w="2190750" h="428625">
                <a:moveTo>
                  <a:pt x="0" y="0"/>
                </a:moveTo>
                <a:lnTo>
                  <a:pt x="2190750" y="0"/>
                </a:lnTo>
                <a:lnTo>
                  <a:pt x="2190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609850" y="2352675"/>
            <a:ext cx="2400300" cy="1295400"/>
          </a:xfrm>
          <a:custGeom>
            <a:avLst/>
            <a:gdLst/>
            <a:ahLst/>
            <a:cxnLst/>
            <a:rect l="l" t="t" r="r" b="b"/>
            <a:pathLst>
              <a:path w="2400300" h="1295400">
                <a:moveTo>
                  <a:pt x="0" y="0"/>
                </a:moveTo>
                <a:lnTo>
                  <a:pt x="2400300" y="0"/>
                </a:lnTo>
                <a:lnTo>
                  <a:pt x="240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56432" y="2638988"/>
            <a:ext cx="731520" cy="66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9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2" name="Freeform 12"/>
          <p:cNvSpPr/>
          <p:nvPr/>
        </p:nvSpPr>
        <p:spPr>
          <a:xfrm>
            <a:off x="2609850" y="3429000"/>
            <a:ext cx="2400300" cy="4933950"/>
          </a:xfrm>
          <a:custGeom>
            <a:avLst/>
            <a:gdLst/>
            <a:ahLst/>
            <a:cxnLst/>
            <a:rect l="l" t="t" r="r" b="b"/>
            <a:pathLst>
              <a:path w="2400300" h="4933950">
                <a:moveTo>
                  <a:pt x="0" y="0"/>
                </a:moveTo>
                <a:lnTo>
                  <a:pt x="2400300" y="0"/>
                </a:lnTo>
                <a:lnTo>
                  <a:pt x="24003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980944" y="3938016"/>
            <a:ext cx="1481328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2" b="1">
                <a:solidFill>
                  <a:srgbClr val="4A79A7"/>
                </a:solidFill>
                <a:latin typeface="Roboto Bold"/>
                <a:ea typeface="Roboto Bold"/>
                <a:cs typeface="Roboto Bold"/>
                <a:sym typeface="Roboto Bold"/>
              </a:rPr>
              <a:t>Data Integration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80944" y="5167289"/>
            <a:ext cx="1664208" cy="153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1734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Combine spatial, administrative and workflow information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2828925" y="7286625"/>
            <a:ext cx="2181225" cy="428625"/>
          </a:xfrm>
          <a:custGeom>
            <a:avLst/>
            <a:gdLst/>
            <a:ahLst/>
            <a:cxnLst/>
            <a:rect l="l" t="t" r="r" b="b"/>
            <a:pathLst>
              <a:path w="2181225" h="428625">
                <a:moveTo>
                  <a:pt x="0" y="0"/>
                </a:moveTo>
                <a:lnTo>
                  <a:pt x="2181225" y="0"/>
                </a:lnTo>
                <a:lnTo>
                  <a:pt x="2181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781550" y="2352675"/>
            <a:ext cx="2409825" cy="1295400"/>
          </a:xfrm>
          <a:custGeom>
            <a:avLst/>
            <a:gdLst/>
            <a:ahLst/>
            <a:cxnLst/>
            <a:rect l="l" t="t" r="r" b="b"/>
            <a:pathLst>
              <a:path w="2409825" h="1295400">
                <a:moveTo>
                  <a:pt x="0" y="0"/>
                </a:moveTo>
                <a:lnTo>
                  <a:pt x="2409825" y="0"/>
                </a:lnTo>
                <a:lnTo>
                  <a:pt x="24098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596128" y="2638988"/>
            <a:ext cx="731520" cy="66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9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8" name="Freeform 18"/>
          <p:cNvSpPr/>
          <p:nvPr/>
        </p:nvSpPr>
        <p:spPr>
          <a:xfrm>
            <a:off x="4781550" y="3429000"/>
            <a:ext cx="2409825" cy="4933950"/>
          </a:xfrm>
          <a:custGeom>
            <a:avLst/>
            <a:gdLst/>
            <a:ahLst/>
            <a:cxnLst/>
            <a:rect l="l" t="t" r="r" b="b"/>
            <a:pathLst>
              <a:path w="2409825" h="4933950">
                <a:moveTo>
                  <a:pt x="0" y="0"/>
                </a:moveTo>
                <a:lnTo>
                  <a:pt x="2409825" y="0"/>
                </a:lnTo>
                <a:lnTo>
                  <a:pt x="24098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138928" y="3947541"/>
            <a:ext cx="148132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2301" b="1">
                <a:solidFill>
                  <a:srgbClr val="E8913B"/>
                </a:solidFill>
                <a:latin typeface="Roboto Bold"/>
                <a:ea typeface="Roboto Bold"/>
                <a:cs typeface="Roboto Bold"/>
                <a:sym typeface="Roboto Bold"/>
              </a:rPr>
              <a:t>Data Processing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38928" y="5172242"/>
            <a:ext cx="1664208" cy="114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1734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Clean, normalize and derive indicators</a:t>
            </a:r>
          </a:p>
        </p:txBody>
      </p:sp>
      <p:sp>
        <p:nvSpPr>
          <p:cNvPr id="21" name="Freeform 21"/>
          <p:cNvSpPr/>
          <p:nvPr/>
        </p:nvSpPr>
        <p:spPr>
          <a:xfrm>
            <a:off x="5000625" y="7286625"/>
            <a:ext cx="2190750" cy="428625"/>
          </a:xfrm>
          <a:custGeom>
            <a:avLst/>
            <a:gdLst/>
            <a:ahLst/>
            <a:cxnLst/>
            <a:rect l="l" t="t" r="r" b="b"/>
            <a:pathLst>
              <a:path w="2190750" h="428625">
                <a:moveTo>
                  <a:pt x="0" y="0"/>
                </a:moveTo>
                <a:lnTo>
                  <a:pt x="2190750" y="0"/>
                </a:lnTo>
                <a:lnTo>
                  <a:pt x="2190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962775" y="2352675"/>
            <a:ext cx="2181225" cy="1295400"/>
          </a:xfrm>
          <a:custGeom>
            <a:avLst/>
            <a:gdLst/>
            <a:ahLst/>
            <a:cxnLst/>
            <a:rect l="l" t="t" r="r" b="b"/>
            <a:pathLst>
              <a:path w="2181225" h="1295400">
                <a:moveTo>
                  <a:pt x="0" y="0"/>
                </a:moveTo>
                <a:lnTo>
                  <a:pt x="2181225" y="0"/>
                </a:lnTo>
                <a:lnTo>
                  <a:pt x="21812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754112" y="2624250"/>
            <a:ext cx="749808" cy="68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503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24" name="Freeform 24"/>
          <p:cNvSpPr/>
          <p:nvPr/>
        </p:nvSpPr>
        <p:spPr>
          <a:xfrm>
            <a:off x="6962775" y="3429000"/>
            <a:ext cx="2181225" cy="4933950"/>
          </a:xfrm>
          <a:custGeom>
            <a:avLst/>
            <a:gdLst/>
            <a:ahLst/>
            <a:cxnLst/>
            <a:rect l="l" t="t" r="r" b="b"/>
            <a:pathLst>
              <a:path w="2181225" h="4933950">
                <a:moveTo>
                  <a:pt x="0" y="0"/>
                </a:moveTo>
                <a:lnTo>
                  <a:pt x="2181225" y="0"/>
                </a:lnTo>
                <a:lnTo>
                  <a:pt x="2181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7296912" y="3955251"/>
            <a:ext cx="1554480" cy="337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2407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AI Analysis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96912" y="5172242"/>
            <a:ext cx="1170432" cy="114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1734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Rule Engine</a:t>
            </a:r>
          </a:p>
          <a:p>
            <a:pPr algn="l">
              <a:lnSpc>
                <a:spcPts val="3121"/>
              </a:lnSpc>
            </a:pPr>
            <a:r>
              <a:rPr lang="en-US" sz="1734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+ Isolation</a:t>
            </a:r>
          </a:p>
          <a:p>
            <a:pPr algn="l">
              <a:lnSpc>
                <a:spcPts val="3121"/>
              </a:lnSpc>
            </a:pPr>
            <a:r>
              <a:rPr lang="en-US" sz="1734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Forest</a:t>
            </a:r>
          </a:p>
        </p:txBody>
      </p:sp>
      <p:sp>
        <p:nvSpPr>
          <p:cNvPr id="27" name="Freeform 27"/>
          <p:cNvSpPr/>
          <p:nvPr/>
        </p:nvSpPr>
        <p:spPr>
          <a:xfrm>
            <a:off x="7181850" y="7286625"/>
            <a:ext cx="2181225" cy="428625"/>
          </a:xfrm>
          <a:custGeom>
            <a:avLst/>
            <a:gdLst/>
            <a:ahLst/>
            <a:cxnLst/>
            <a:rect l="l" t="t" r="r" b="b"/>
            <a:pathLst>
              <a:path w="2181225" h="428625">
                <a:moveTo>
                  <a:pt x="0" y="0"/>
                </a:moveTo>
                <a:lnTo>
                  <a:pt x="2181225" y="0"/>
                </a:lnTo>
                <a:lnTo>
                  <a:pt x="2181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144000" y="2352675"/>
            <a:ext cx="2400300" cy="1295400"/>
          </a:xfrm>
          <a:custGeom>
            <a:avLst/>
            <a:gdLst/>
            <a:ahLst/>
            <a:cxnLst/>
            <a:rect l="l" t="t" r="r" b="b"/>
            <a:pathLst>
              <a:path w="2400300" h="1295400">
                <a:moveTo>
                  <a:pt x="0" y="0"/>
                </a:moveTo>
                <a:lnTo>
                  <a:pt x="2400300" y="0"/>
                </a:lnTo>
                <a:lnTo>
                  <a:pt x="240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9912096" y="2638988"/>
            <a:ext cx="731520" cy="66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9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30" name="Freeform 30"/>
          <p:cNvSpPr/>
          <p:nvPr/>
        </p:nvSpPr>
        <p:spPr>
          <a:xfrm>
            <a:off x="9144000" y="3429000"/>
            <a:ext cx="2400300" cy="4933950"/>
          </a:xfrm>
          <a:custGeom>
            <a:avLst/>
            <a:gdLst/>
            <a:ahLst/>
            <a:cxnLst/>
            <a:rect l="l" t="t" r="r" b="b"/>
            <a:pathLst>
              <a:path w="2400300" h="4933950">
                <a:moveTo>
                  <a:pt x="0" y="0"/>
                </a:moveTo>
                <a:lnTo>
                  <a:pt x="2400300" y="0"/>
                </a:lnTo>
                <a:lnTo>
                  <a:pt x="24003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9436608" y="3928491"/>
            <a:ext cx="106070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b="1">
                <a:solidFill>
                  <a:srgbClr val="F4603D"/>
                </a:solidFill>
                <a:latin typeface="Roboto Bold"/>
                <a:ea typeface="Roboto Bold"/>
                <a:cs typeface="Roboto Bold"/>
                <a:sym typeface="Roboto Bold"/>
              </a:rPr>
              <a:t>Risk Scoring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36608" y="5159305"/>
            <a:ext cx="1170432" cy="1170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1769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Explainable</a:t>
            </a:r>
          </a:p>
          <a:p>
            <a:pPr algn="l">
              <a:lnSpc>
                <a:spcPts val="3185"/>
              </a:lnSpc>
            </a:pPr>
            <a:r>
              <a:rPr lang="en-US" sz="1769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0–100</a:t>
            </a:r>
          </a:p>
          <a:p>
            <a:pPr algn="l">
              <a:lnSpc>
                <a:spcPts val="3185"/>
              </a:lnSpc>
            </a:pPr>
            <a:r>
              <a:rPr lang="en-US" sz="1769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risk score</a:t>
            </a:r>
          </a:p>
        </p:txBody>
      </p:sp>
      <p:sp>
        <p:nvSpPr>
          <p:cNvPr id="33" name="Freeform 33"/>
          <p:cNvSpPr/>
          <p:nvPr/>
        </p:nvSpPr>
        <p:spPr>
          <a:xfrm>
            <a:off x="9353550" y="7286625"/>
            <a:ext cx="2190750" cy="428625"/>
          </a:xfrm>
          <a:custGeom>
            <a:avLst/>
            <a:gdLst/>
            <a:ahLst/>
            <a:cxnLst/>
            <a:rect l="l" t="t" r="r" b="b"/>
            <a:pathLst>
              <a:path w="2190750" h="428625">
                <a:moveTo>
                  <a:pt x="0" y="0"/>
                </a:moveTo>
                <a:lnTo>
                  <a:pt x="2190750" y="0"/>
                </a:lnTo>
                <a:lnTo>
                  <a:pt x="2190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1315700" y="2352675"/>
            <a:ext cx="2400300" cy="1295400"/>
          </a:xfrm>
          <a:custGeom>
            <a:avLst/>
            <a:gdLst/>
            <a:ahLst/>
            <a:cxnLst/>
            <a:rect l="l" t="t" r="r" b="b"/>
            <a:pathLst>
              <a:path w="2400300" h="1295400">
                <a:moveTo>
                  <a:pt x="0" y="0"/>
                </a:moveTo>
                <a:lnTo>
                  <a:pt x="2400300" y="0"/>
                </a:lnTo>
                <a:lnTo>
                  <a:pt x="240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2088368" y="2624250"/>
            <a:ext cx="749808" cy="68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503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id="36" name="Freeform 36"/>
          <p:cNvSpPr/>
          <p:nvPr/>
        </p:nvSpPr>
        <p:spPr>
          <a:xfrm>
            <a:off x="11315700" y="3429000"/>
            <a:ext cx="2400300" cy="4933950"/>
          </a:xfrm>
          <a:custGeom>
            <a:avLst/>
            <a:gdLst/>
            <a:ahLst/>
            <a:cxnLst/>
            <a:rect l="l" t="t" r="r" b="b"/>
            <a:pathLst>
              <a:path w="2400300" h="4933950">
                <a:moveTo>
                  <a:pt x="0" y="0"/>
                </a:moveTo>
                <a:lnTo>
                  <a:pt x="2400300" y="0"/>
                </a:lnTo>
                <a:lnTo>
                  <a:pt x="24003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1594592" y="3960914"/>
            <a:ext cx="1737360" cy="32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7"/>
              </a:lnSpc>
            </a:pPr>
            <a:r>
              <a:rPr lang="en-US" sz="2337" b="1">
                <a:solidFill>
                  <a:srgbClr val="4A79A7"/>
                </a:solidFill>
                <a:latin typeface="Roboto Bold"/>
                <a:ea typeface="Roboto Bold"/>
                <a:cs typeface="Roboto Bold"/>
                <a:sym typeface="Roboto Bold"/>
              </a:rPr>
              <a:t>Prioritization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594592" y="5196765"/>
            <a:ext cx="1170432" cy="1095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1628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Rank cases</a:t>
            </a:r>
          </a:p>
          <a:p>
            <a:pPr algn="l">
              <a:lnSpc>
                <a:spcPts val="2930"/>
              </a:lnSpc>
            </a:pPr>
            <a:r>
              <a:rPr lang="en-US" sz="1628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and districts</a:t>
            </a:r>
          </a:p>
          <a:p>
            <a:pPr algn="l">
              <a:lnSpc>
                <a:spcPts val="2930"/>
              </a:lnSpc>
            </a:pPr>
            <a:r>
              <a:rPr lang="en-US" sz="1628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by urgency</a:t>
            </a:r>
          </a:p>
        </p:txBody>
      </p:sp>
      <p:sp>
        <p:nvSpPr>
          <p:cNvPr id="39" name="Freeform 39"/>
          <p:cNvSpPr/>
          <p:nvPr/>
        </p:nvSpPr>
        <p:spPr>
          <a:xfrm>
            <a:off x="11315700" y="7286625"/>
            <a:ext cx="2400300" cy="428625"/>
          </a:xfrm>
          <a:custGeom>
            <a:avLst/>
            <a:gdLst/>
            <a:ahLst/>
            <a:cxnLst/>
            <a:rect l="l" t="t" r="r" b="b"/>
            <a:pathLst>
              <a:path w="2400300" h="428625">
                <a:moveTo>
                  <a:pt x="0" y="0"/>
                </a:moveTo>
                <a:lnTo>
                  <a:pt x="2400300" y="0"/>
                </a:lnTo>
                <a:lnTo>
                  <a:pt x="2400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3496925" y="2352675"/>
            <a:ext cx="2400300" cy="1295400"/>
          </a:xfrm>
          <a:custGeom>
            <a:avLst/>
            <a:gdLst/>
            <a:ahLst/>
            <a:cxnLst/>
            <a:rect l="l" t="t" r="r" b="b"/>
            <a:pathLst>
              <a:path w="2400300" h="1295400">
                <a:moveTo>
                  <a:pt x="0" y="0"/>
                </a:moveTo>
                <a:lnTo>
                  <a:pt x="2400300" y="0"/>
                </a:lnTo>
                <a:lnTo>
                  <a:pt x="240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4264640" y="2638988"/>
            <a:ext cx="731520" cy="66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9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07</a:t>
            </a:r>
          </a:p>
        </p:txBody>
      </p:sp>
      <p:sp>
        <p:nvSpPr>
          <p:cNvPr id="42" name="Freeform 42"/>
          <p:cNvSpPr/>
          <p:nvPr/>
        </p:nvSpPr>
        <p:spPr>
          <a:xfrm>
            <a:off x="13496925" y="3429000"/>
            <a:ext cx="2400300" cy="4933950"/>
          </a:xfrm>
          <a:custGeom>
            <a:avLst/>
            <a:gdLst/>
            <a:ahLst/>
            <a:cxnLst/>
            <a:rect l="l" t="t" r="r" b="b"/>
            <a:pathLst>
              <a:path w="2400300" h="4933950">
                <a:moveTo>
                  <a:pt x="0" y="0"/>
                </a:moveTo>
                <a:lnTo>
                  <a:pt x="2400300" y="0"/>
                </a:lnTo>
                <a:lnTo>
                  <a:pt x="24003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3789152" y="3966127"/>
            <a:ext cx="1719072" cy="3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301" b="1">
                <a:solidFill>
                  <a:srgbClr val="E8913B"/>
                </a:solidFill>
                <a:latin typeface="Roboto Bold"/>
                <a:ea typeface="Roboto Bold"/>
                <a:cs typeface="Roboto Bold"/>
                <a:sym typeface="Roboto Bold"/>
              </a:rPr>
              <a:t>Investigation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789152" y="5104666"/>
            <a:ext cx="1170432" cy="165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1840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Timeline +</a:t>
            </a:r>
          </a:p>
          <a:p>
            <a:pPr algn="l">
              <a:lnSpc>
                <a:spcPts val="3313"/>
              </a:lnSpc>
            </a:pPr>
            <a:r>
              <a:rPr lang="en-US" sz="1840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GIS +</a:t>
            </a:r>
          </a:p>
          <a:p>
            <a:pPr algn="l">
              <a:lnSpc>
                <a:spcPts val="3313"/>
              </a:lnSpc>
            </a:pPr>
            <a:r>
              <a:rPr lang="en-US" sz="1840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Evidence</a:t>
            </a:r>
          </a:p>
          <a:p>
            <a:pPr algn="l">
              <a:lnSpc>
                <a:spcPts val="3313"/>
              </a:lnSpc>
            </a:pPr>
            <a:r>
              <a:rPr lang="en-US" sz="1840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Graph</a:t>
            </a:r>
          </a:p>
        </p:txBody>
      </p:sp>
      <p:sp>
        <p:nvSpPr>
          <p:cNvPr id="45" name="Freeform 45"/>
          <p:cNvSpPr/>
          <p:nvPr/>
        </p:nvSpPr>
        <p:spPr>
          <a:xfrm>
            <a:off x="13496925" y="7286625"/>
            <a:ext cx="2181225" cy="428625"/>
          </a:xfrm>
          <a:custGeom>
            <a:avLst/>
            <a:gdLst/>
            <a:ahLst/>
            <a:cxnLst/>
            <a:rect l="l" t="t" r="r" b="b"/>
            <a:pathLst>
              <a:path w="2181225" h="428625">
                <a:moveTo>
                  <a:pt x="0" y="0"/>
                </a:moveTo>
                <a:lnTo>
                  <a:pt x="2181225" y="0"/>
                </a:lnTo>
                <a:lnTo>
                  <a:pt x="2181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5668625" y="2352675"/>
            <a:ext cx="2409825" cy="1295400"/>
          </a:xfrm>
          <a:custGeom>
            <a:avLst/>
            <a:gdLst/>
            <a:ahLst/>
            <a:cxnLst/>
            <a:rect l="l" t="t" r="r" b="b"/>
            <a:pathLst>
              <a:path w="2409825" h="1295400">
                <a:moveTo>
                  <a:pt x="0" y="0"/>
                </a:moveTo>
                <a:lnTo>
                  <a:pt x="2409825" y="0"/>
                </a:lnTo>
                <a:lnTo>
                  <a:pt x="24098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16422624" y="2624250"/>
            <a:ext cx="749808" cy="68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sz="503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08</a:t>
            </a:r>
          </a:p>
        </p:txBody>
      </p:sp>
      <p:sp>
        <p:nvSpPr>
          <p:cNvPr id="48" name="Freeform 48"/>
          <p:cNvSpPr/>
          <p:nvPr/>
        </p:nvSpPr>
        <p:spPr>
          <a:xfrm>
            <a:off x="15668625" y="3429000"/>
            <a:ext cx="2190750" cy="4933950"/>
          </a:xfrm>
          <a:custGeom>
            <a:avLst/>
            <a:gdLst/>
            <a:ahLst/>
            <a:cxnLst/>
            <a:rect l="l" t="t" r="r" b="b"/>
            <a:pathLst>
              <a:path w="2190750" h="4933950">
                <a:moveTo>
                  <a:pt x="0" y="0"/>
                </a:moveTo>
                <a:lnTo>
                  <a:pt x="2190750" y="0"/>
                </a:lnTo>
                <a:lnTo>
                  <a:pt x="21907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6002000" y="3909441"/>
            <a:ext cx="126187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Decision Support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965424" y="5184988"/>
            <a:ext cx="1481328" cy="149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8"/>
              </a:lnSpc>
            </a:pPr>
            <a:r>
              <a:rPr lang="en-US" sz="1698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Recommended administrative action for human review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340864" y="8913726"/>
            <a:ext cx="1554480" cy="47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sz="3506" b="1" dirty="0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WHERE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901184" y="8913726"/>
            <a:ext cx="1298448" cy="47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sz="3506" b="1">
                <a:solidFill>
                  <a:srgbClr val="4A79A7"/>
                </a:solidFill>
                <a:latin typeface="Roboto Bold"/>
                <a:ea typeface="Roboto Bold"/>
                <a:cs typeface="Roboto Bold"/>
                <a:sym typeface="Roboto Bold"/>
              </a:rPr>
              <a:t>WHAT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187184" y="8913726"/>
            <a:ext cx="1005840" cy="47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sz="3506" b="1">
                <a:solidFill>
                  <a:srgbClr val="4A79A7"/>
                </a:solidFill>
                <a:latin typeface="Roboto Bold"/>
                <a:ea typeface="Roboto Bold"/>
                <a:cs typeface="Roboto Bold"/>
                <a:sym typeface="Roboto Bold"/>
              </a:rPr>
              <a:t>WHY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217152" y="8913726"/>
            <a:ext cx="2926080" cy="47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sz="3506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HOW URGENT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167360" y="8913726"/>
            <a:ext cx="2779776" cy="47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sz="3506" b="1">
                <a:solidFill>
                  <a:srgbClr val="2F5040"/>
                </a:solidFill>
                <a:latin typeface="Roboto Bold"/>
                <a:ea typeface="Roboto Bold"/>
                <a:cs typeface="Roboto Bold"/>
                <a:sym typeface="Roboto Bold"/>
              </a:rPr>
              <a:t>WHAT NEXT?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7200" y="578358"/>
            <a:ext cx="8942832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89"/>
              </a:lnSpc>
            </a:pPr>
            <a:r>
              <a:rPr lang="en-US" sz="7158" b="1">
                <a:solidFill>
                  <a:srgbClr val="1A5D40"/>
                </a:solidFill>
                <a:latin typeface="Roboto Bold"/>
                <a:ea typeface="Roboto Bold"/>
                <a:cs typeface="Roboto Bold"/>
                <a:sym typeface="Roboto Bold"/>
              </a:rPr>
              <a:t>System Architecture.</a:t>
            </a:r>
          </a:p>
        </p:txBody>
      </p:sp>
      <p:sp>
        <p:nvSpPr>
          <p:cNvPr id="4" name="Freeform 4"/>
          <p:cNvSpPr/>
          <p:nvPr/>
        </p:nvSpPr>
        <p:spPr>
          <a:xfrm>
            <a:off x="866775" y="1924050"/>
            <a:ext cx="3705225" cy="866775"/>
          </a:xfrm>
          <a:custGeom>
            <a:avLst/>
            <a:gdLst/>
            <a:ahLst/>
            <a:cxnLst/>
            <a:rect l="l" t="t" r="r" b="b"/>
            <a:pathLst>
              <a:path w="3705225" h="866775">
                <a:moveTo>
                  <a:pt x="0" y="0"/>
                </a:moveTo>
                <a:lnTo>
                  <a:pt x="3705225" y="0"/>
                </a:lnTo>
                <a:lnTo>
                  <a:pt x="3705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83664" y="2190179"/>
            <a:ext cx="157276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sz="230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Client Layer</a:t>
            </a:r>
          </a:p>
        </p:txBody>
      </p:sp>
      <p:sp>
        <p:nvSpPr>
          <p:cNvPr id="6" name="Freeform 6"/>
          <p:cNvSpPr/>
          <p:nvPr/>
        </p:nvSpPr>
        <p:spPr>
          <a:xfrm>
            <a:off x="4352925" y="1924050"/>
            <a:ext cx="13068300" cy="866775"/>
          </a:xfrm>
          <a:custGeom>
            <a:avLst/>
            <a:gdLst/>
            <a:ahLst/>
            <a:cxnLst/>
            <a:rect l="l" t="t" r="r" b="b"/>
            <a:pathLst>
              <a:path w="13068300" h="866775">
                <a:moveTo>
                  <a:pt x="0" y="0"/>
                </a:moveTo>
                <a:lnTo>
                  <a:pt x="13068300" y="0"/>
                </a:lnTo>
                <a:lnTo>
                  <a:pt x="13068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26480" y="2223135"/>
            <a:ext cx="3163824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React 18 + TypeScript + Vite</a:t>
            </a:r>
          </a:p>
        </p:txBody>
      </p:sp>
      <p:sp>
        <p:nvSpPr>
          <p:cNvPr id="8" name="Freeform 8"/>
          <p:cNvSpPr/>
          <p:nvPr/>
        </p:nvSpPr>
        <p:spPr>
          <a:xfrm>
            <a:off x="9791700" y="2143125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04704" y="2223135"/>
            <a:ext cx="497433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Leaflet GIS + Recharts + Framer Motion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9791700" y="2571750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66775" y="3000375"/>
            <a:ext cx="3705225" cy="1076325"/>
          </a:xfrm>
          <a:custGeom>
            <a:avLst/>
            <a:gdLst/>
            <a:ahLst/>
            <a:cxnLst/>
            <a:rect l="l" t="t" r="r" b="b"/>
            <a:pathLst>
              <a:path w="3705225" h="1076325">
                <a:moveTo>
                  <a:pt x="0" y="0"/>
                </a:moveTo>
                <a:lnTo>
                  <a:pt x="3705225" y="0"/>
                </a:lnTo>
                <a:lnTo>
                  <a:pt x="3705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45920" y="3404044"/>
            <a:ext cx="2048256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9"/>
              </a:lnSpc>
            </a:pPr>
            <a:r>
              <a:rPr lang="en-US" sz="2266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REST API Layer</a:t>
            </a:r>
          </a:p>
        </p:txBody>
      </p:sp>
      <p:sp>
        <p:nvSpPr>
          <p:cNvPr id="13" name="Freeform 13"/>
          <p:cNvSpPr/>
          <p:nvPr/>
        </p:nvSpPr>
        <p:spPr>
          <a:xfrm>
            <a:off x="4352925" y="3000375"/>
            <a:ext cx="13068300" cy="1076325"/>
          </a:xfrm>
          <a:custGeom>
            <a:avLst/>
            <a:gdLst/>
            <a:ahLst/>
            <a:cxnLst/>
            <a:rect l="l" t="t" r="r" b="b"/>
            <a:pathLst>
              <a:path w="13068300" h="1076325">
                <a:moveTo>
                  <a:pt x="0" y="0"/>
                </a:moveTo>
                <a:lnTo>
                  <a:pt x="13068300" y="0"/>
                </a:lnTo>
                <a:lnTo>
                  <a:pt x="13068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491472" y="3437001"/>
            <a:ext cx="193852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FastAPI + Unicorn</a:t>
            </a:r>
          </a:p>
        </p:txBody>
      </p:sp>
      <p:sp>
        <p:nvSpPr>
          <p:cNvPr id="15" name="Freeform 15"/>
          <p:cNvSpPr/>
          <p:nvPr/>
        </p:nvSpPr>
        <p:spPr>
          <a:xfrm>
            <a:off x="9791700" y="385762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66775" y="4286250"/>
            <a:ext cx="3705225" cy="1076325"/>
          </a:xfrm>
          <a:custGeom>
            <a:avLst/>
            <a:gdLst/>
            <a:ahLst/>
            <a:cxnLst/>
            <a:rect l="l" t="t" r="r" b="b"/>
            <a:pathLst>
              <a:path w="3705225" h="1076325">
                <a:moveTo>
                  <a:pt x="0" y="0"/>
                </a:moveTo>
                <a:lnTo>
                  <a:pt x="3705225" y="0"/>
                </a:lnTo>
                <a:lnTo>
                  <a:pt x="3705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98448" y="4613910"/>
            <a:ext cx="276148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33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Application Services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4352925" y="4286250"/>
            <a:ext cx="13068300" cy="1076325"/>
          </a:xfrm>
          <a:custGeom>
            <a:avLst/>
            <a:gdLst/>
            <a:ahLst/>
            <a:cxnLst/>
            <a:rect l="l" t="t" r="r" b="b"/>
            <a:pathLst>
              <a:path w="13068300" h="1076325">
                <a:moveTo>
                  <a:pt x="0" y="0"/>
                </a:moveTo>
                <a:lnTo>
                  <a:pt x="13068300" y="0"/>
                </a:lnTo>
                <a:lnTo>
                  <a:pt x="13068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876925" y="4495800"/>
            <a:ext cx="219075" cy="647700"/>
          </a:xfrm>
          <a:custGeom>
            <a:avLst/>
            <a:gdLst/>
            <a:ahLst/>
            <a:cxnLst/>
            <a:rect l="l" t="t" r="r" b="b"/>
            <a:pathLst>
              <a:path w="219075" h="647700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181850" y="4495800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486775" y="4495800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814816" y="4661154"/>
            <a:ext cx="93268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Evidence</a:t>
            </a:r>
          </a:p>
        </p:txBody>
      </p:sp>
      <p:sp>
        <p:nvSpPr>
          <p:cNvPr id="23" name="Freeform 23"/>
          <p:cNvSpPr/>
          <p:nvPr/>
        </p:nvSpPr>
        <p:spPr>
          <a:xfrm>
            <a:off x="9791700" y="4495800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259568" y="4661154"/>
            <a:ext cx="74980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Priority</a:t>
            </a:r>
          </a:p>
        </p:txBody>
      </p:sp>
      <p:sp>
        <p:nvSpPr>
          <p:cNvPr id="25" name="Freeform 25"/>
          <p:cNvSpPr/>
          <p:nvPr/>
        </p:nvSpPr>
        <p:spPr>
          <a:xfrm>
            <a:off x="11096625" y="4495800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3058775" y="4495800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3459968" y="4661154"/>
            <a:ext cx="177393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What If Simulator</a:t>
            </a:r>
          </a:p>
        </p:txBody>
      </p:sp>
      <p:sp>
        <p:nvSpPr>
          <p:cNvPr id="28" name="Freeform 28"/>
          <p:cNvSpPr/>
          <p:nvPr/>
        </p:nvSpPr>
        <p:spPr>
          <a:xfrm>
            <a:off x="15449550" y="4495800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5782544" y="4661154"/>
            <a:ext cx="120700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FRA Copilot</a:t>
            </a:r>
          </a:p>
        </p:txBody>
      </p:sp>
      <p:sp>
        <p:nvSpPr>
          <p:cNvPr id="30" name="Freeform 30"/>
          <p:cNvSpPr/>
          <p:nvPr/>
        </p:nvSpPr>
        <p:spPr>
          <a:xfrm>
            <a:off x="9791700" y="5143500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866775" y="5572125"/>
            <a:ext cx="3705225" cy="1285875"/>
          </a:xfrm>
          <a:custGeom>
            <a:avLst/>
            <a:gdLst/>
            <a:ahLst/>
            <a:cxnLst/>
            <a:rect l="l" t="t" r="r" b="b"/>
            <a:pathLst>
              <a:path w="3705225" h="1285875">
                <a:moveTo>
                  <a:pt x="0" y="0"/>
                </a:moveTo>
                <a:lnTo>
                  <a:pt x="3705225" y="0"/>
                </a:lnTo>
                <a:lnTo>
                  <a:pt x="3705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353312" y="5980557"/>
            <a:ext cx="267004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sz="223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 / Analytics Engine</a:t>
            </a:r>
          </a:p>
        </p:txBody>
      </p:sp>
      <p:sp>
        <p:nvSpPr>
          <p:cNvPr id="33" name="Freeform 33"/>
          <p:cNvSpPr/>
          <p:nvPr/>
        </p:nvSpPr>
        <p:spPr>
          <a:xfrm>
            <a:off x="4352925" y="5572125"/>
            <a:ext cx="13068300" cy="1285875"/>
          </a:xfrm>
          <a:custGeom>
            <a:avLst/>
            <a:gdLst/>
            <a:ahLst/>
            <a:cxnLst/>
            <a:rect l="l" t="t" r="r" b="b"/>
            <a:pathLst>
              <a:path w="13068300" h="1285875">
                <a:moveTo>
                  <a:pt x="0" y="0"/>
                </a:moveTo>
                <a:lnTo>
                  <a:pt x="13068300" y="0"/>
                </a:lnTo>
                <a:lnTo>
                  <a:pt x="13068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5413248" y="5927530"/>
            <a:ext cx="1389888" cy="509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840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Deterministic Rule Engine</a:t>
            </a:r>
          </a:p>
        </p:txBody>
      </p:sp>
      <p:sp>
        <p:nvSpPr>
          <p:cNvPr id="35" name="Freeform 35"/>
          <p:cNvSpPr/>
          <p:nvPr/>
        </p:nvSpPr>
        <p:spPr>
          <a:xfrm>
            <a:off x="7400925" y="5781675"/>
            <a:ext cx="219075" cy="647700"/>
          </a:xfrm>
          <a:custGeom>
            <a:avLst/>
            <a:gdLst/>
            <a:ahLst/>
            <a:cxnLst/>
            <a:rect l="l" t="t" r="r" b="b"/>
            <a:pathLst>
              <a:path w="219075" h="647700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8394192" y="5927755"/>
            <a:ext cx="1609344" cy="50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Scikit-learn</a:t>
            </a:r>
          </a:p>
          <a:p>
            <a:pPr algn="ctr">
              <a:lnSpc>
                <a:spcPts val="1985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Isolation Forest</a:t>
            </a:r>
          </a:p>
        </p:txBody>
      </p:sp>
      <p:sp>
        <p:nvSpPr>
          <p:cNvPr id="37" name="Freeform 37"/>
          <p:cNvSpPr/>
          <p:nvPr/>
        </p:nvSpPr>
        <p:spPr>
          <a:xfrm>
            <a:off x="10668000" y="5781675"/>
            <a:ext cx="219075" cy="647700"/>
          </a:xfrm>
          <a:custGeom>
            <a:avLst/>
            <a:gdLst/>
            <a:ahLst/>
            <a:cxnLst/>
            <a:rect l="l" t="t" r="r" b="b"/>
            <a:pathLst>
              <a:path w="219075" h="647700">
                <a:moveTo>
                  <a:pt x="0" y="0"/>
                </a:moveTo>
                <a:lnTo>
                  <a:pt x="219075" y="0"/>
                </a:lnTo>
                <a:lnTo>
                  <a:pt x="2190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1722608" y="5927530"/>
            <a:ext cx="1316736" cy="509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840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Composite</a:t>
            </a:r>
          </a:p>
          <a:p>
            <a:pPr algn="ctr">
              <a:lnSpc>
                <a:spcPts val="2024"/>
              </a:lnSpc>
            </a:pPr>
            <a:r>
              <a:rPr lang="en-US" sz="1840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Risk Scoring</a:t>
            </a:r>
          </a:p>
        </p:txBody>
      </p:sp>
      <p:sp>
        <p:nvSpPr>
          <p:cNvPr id="39" name="Freeform 39"/>
          <p:cNvSpPr/>
          <p:nvPr/>
        </p:nvSpPr>
        <p:spPr>
          <a:xfrm>
            <a:off x="13925550" y="5781675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4923008" y="5927530"/>
            <a:ext cx="1389888" cy="509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"/>
              </a:lnSpc>
            </a:pPr>
            <a:r>
              <a:rPr lang="en-US" sz="1840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Explainability Engine</a:t>
            </a:r>
          </a:p>
        </p:txBody>
      </p:sp>
      <p:sp>
        <p:nvSpPr>
          <p:cNvPr id="41" name="Freeform 41"/>
          <p:cNvSpPr/>
          <p:nvPr/>
        </p:nvSpPr>
        <p:spPr>
          <a:xfrm>
            <a:off x="9791700" y="6638925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866775" y="6858000"/>
            <a:ext cx="3705225" cy="1285875"/>
          </a:xfrm>
          <a:custGeom>
            <a:avLst/>
            <a:gdLst/>
            <a:ahLst/>
            <a:cxnLst/>
            <a:rect l="l" t="t" r="r" b="b"/>
            <a:pathLst>
              <a:path w="3705225" h="1285875">
                <a:moveTo>
                  <a:pt x="0" y="0"/>
                </a:moveTo>
                <a:lnTo>
                  <a:pt x="3705225" y="0"/>
                </a:lnTo>
                <a:lnTo>
                  <a:pt x="3705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956816" y="7309104"/>
            <a:ext cx="142646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sz="233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Layer</a:t>
            </a:r>
          </a:p>
        </p:txBody>
      </p:sp>
      <p:sp>
        <p:nvSpPr>
          <p:cNvPr id="44" name="Freeform 44"/>
          <p:cNvSpPr/>
          <p:nvPr/>
        </p:nvSpPr>
        <p:spPr>
          <a:xfrm>
            <a:off x="4352925" y="6858000"/>
            <a:ext cx="13068300" cy="1285875"/>
          </a:xfrm>
          <a:custGeom>
            <a:avLst/>
            <a:gdLst/>
            <a:ahLst/>
            <a:cxnLst/>
            <a:rect l="l" t="t" r="r" b="b"/>
            <a:pathLst>
              <a:path w="13068300" h="1285875">
                <a:moveTo>
                  <a:pt x="0" y="0"/>
                </a:moveTo>
                <a:lnTo>
                  <a:pt x="13068300" y="0"/>
                </a:lnTo>
                <a:lnTo>
                  <a:pt x="130683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5" name="TextBox 45"/>
          <p:cNvSpPr txBox="1"/>
          <p:nvPr/>
        </p:nvSpPr>
        <p:spPr>
          <a:xfrm>
            <a:off x="5193792" y="7366635"/>
            <a:ext cx="166420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sz="1769" dirty="0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SQLite Database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8C55FE-047E-E84F-8185-40731D07C1B0}"/>
              </a:ext>
            </a:extLst>
          </p:cNvPr>
          <p:cNvSpPr/>
          <p:nvPr/>
        </p:nvSpPr>
        <p:spPr>
          <a:xfrm>
            <a:off x="7964424" y="7366635"/>
            <a:ext cx="2484501" cy="3390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6" name="Freeform 46"/>
          <p:cNvSpPr/>
          <p:nvPr/>
        </p:nvSpPr>
        <p:spPr>
          <a:xfrm>
            <a:off x="7400925" y="7286625"/>
            <a:ext cx="219075" cy="428625"/>
          </a:xfrm>
          <a:custGeom>
            <a:avLst/>
            <a:gdLst/>
            <a:ahLst/>
            <a:cxnLst/>
            <a:rect l="l" t="t" r="r" b="b"/>
            <a:pathLst>
              <a:path w="219075" h="428625">
                <a:moveTo>
                  <a:pt x="0" y="0"/>
                </a:moveTo>
                <a:lnTo>
                  <a:pt x="219075" y="0"/>
                </a:lnTo>
                <a:lnTo>
                  <a:pt x="2190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6455664" y="9752647"/>
            <a:ext cx="537667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7"/>
              </a:lnSpc>
            </a:pPr>
            <a:r>
              <a:rPr lang="en-US" sz="2514" b="1">
                <a:solidFill>
                  <a:srgbClr val="F4AE3A"/>
                </a:solidFill>
                <a:latin typeface="Roboto Bold"/>
                <a:ea typeface="Roboto Bold"/>
                <a:cs typeface="Roboto Bold"/>
                <a:sym typeface="Roboto Bold"/>
              </a:rPr>
              <a:t>SYNTHETIC DEMONSTRATION DATA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754880" y="4661154"/>
            <a:ext cx="95097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Overview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254496" y="4661154"/>
            <a:ext cx="84124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sz="1769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Districts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607808" y="4661154"/>
            <a:ext cx="71323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Claims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539728" y="4661154"/>
            <a:ext cx="138988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sz="1769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Early Warning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193405" y="7278147"/>
            <a:ext cx="232257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 dirty="0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4,781 Synthetic Claims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66576" y="7366635"/>
            <a:ext cx="190195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36 District Profiles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538960" y="7366635"/>
            <a:ext cx="201168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6"/>
              </a:lnSpc>
            </a:pPr>
            <a:r>
              <a:rPr lang="en-US" sz="1805">
                <a:solidFill>
                  <a:srgbClr val="1A5D40"/>
                </a:solidFill>
                <a:latin typeface="Roboto"/>
                <a:ea typeface="Roboto"/>
                <a:cs typeface="Roboto"/>
                <a:sym typeface="Roboto"/>
              </a:rPr>
              <a:t>Audit Timeline Data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340096" y="8569452"/>
            <a:ext cx="760780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sz="3223" b="1">
                <a:solidFill>
                  <a:srgbClr val="1A5D40"/>
                </a:solidFill>
                <a:latin typeface="Roboto Bold"/>
                <a:ea typeface="Roboto Bold"/>
                <a:cs typeface="Roboto Bold"/>
                <a:sym typeface="Roboto Bold"/>
              </a:rPr>
              <a:t>Offline-capable   |   Modular   |   Auditable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566928" y="581735"/>
            <a:ext cx="8869680" cy="1231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4"/>
              </a:lnSpc>
            </a:pPr>
            <a:r>
              <a:rPr lang="en-US" sz="9604" b="1" dirty="0">
                <a:solidFill>
                  <a:srgbClr val="1F4C37"/>
                </a:solidFill>
                <a:latin typeface="Roboto Bold"/>
                <a:ea typeface="Roboto Bold"/>
                <a:cs typeface="Roboto Bold"/>
                <a:sym typeface="Roboto Bold"/>
              </a:rPr>
              <a:t>Key Features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0" y="1285875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8625" y="2143125"/>
            <a:ext cx="1095375" cy="2571750"/>
          </a:xfrm>
          <a:custGeom>
            <a:avLst/>
            <a:gdLst/>
            <a:ahLst/>
            <a:cxnLst/>
            <a:rect l="l" t="t" r="r" b="b"/>
            <a:pathLst>
              <a:path w="1095375" h="2571750">
                <a:moveTo>
                  <a:pt x="0" y="0"/>
                </a:moveTo>
                <a:lnTo>
                  <a:pt x="1095375" y="0"/>
                </a:lnTo>
                <a:lnTo>
                  <a:pt x="1095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49808" y="2422629"/>
            <a:ext cx="512064" cy="47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sz="3506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>
            <a:off x="1304925" y="2143125"/>
            <a:ext cx="3486150" cy="2571750"/>
          </a:xfrm>
          <a:custGeom>
            <a:avLst/>
            <a:gdLst/>
            <a:ahLst/>
            <a:cxnLst/>
            <a:rect l="l" t="t" r="r" b="b"/>
            <a:pathLst>
              <a:path w="3486150" h="2571750">
                <a:moveTo>
                  <a:pt x="0" y="0"/>
                </a:moveTo>
                <a:lnTo>
                  <a:pt x="3486150" y="0"/>
                </a:lnTo>
                <a:lnTo>
                  <a:pt x="34861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00784" y="2317433"/>
            <a:ext cx="237744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762" b="1" dirty="0">
                <a:solidFill>
                  <a:srgbClr val="1F4C37"/>
                </a:solidFill>
                <a:latin typeface="Roboto Bold"/>
                <a:ea typeface="Roboto Bold"/>
                <a:cs typeface="Roboto Bold"/>
                <a:sym typeface="Roboto Bold"/>
              </a:rPr>
              <a:t>Living GIS Map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00784" y="2967311"/>
            <a:ext cx="2377440" cy="1612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01" dirty="0">
                <a:solidFill>
                  <a:srgbClr val="1F4C37"/>
                </a:solidFill>
                <a:latin typeface="Roboto"/>
                <a:ea typeface="Roboto"/>
                <a:cs typeface="Roboto"/>
                <a:sym typeface="Roboto"/>
              </a:rPr>
              <a:t>Claims, risk levels, district health, spatial clusters</a:t>
            </a:r>
          </a:p>
          <a:p>
            <a:pPr algn="l">
              <a:lnSpc>
                <a:spcPts val="3222"/>
              </a:lnSpc>
            </a:pPr>
            <a:endParaRPr lang="en-US" sz="2301" dirty="0">
              <a:solidFill>
                <a:srgbClr val="1F4C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4781550" y="2143125"/>
            <a:ext cx="1104900" cy="2571750"/>
          </a:xfrm>
          <a:custGeom>
            <a:avLst/>
            <a:gdLst/>
            <a:ahLst/>
            <a:cxnLst/>
            <a:rect l="l" t="t" r="r" b="b"/>
            <a:pathLst>
              <a:path w="1104900" h="2571750">
                <a:moveTo>
                  <a:pt x="0" y="0"/>
                </a:moveTo>
                <a:lnTo>
                  <a:pt x="1104900" y="0"/>
                </a:lnTo>
                <a:lnTo>
                  <a:pt x="11049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02352" y="2413364"/>
            <a:ext cx="566928" cy="51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sz="386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2" name="Freeform 12"/>
          <p:cNvSpPr/>
          <p:nvPr/>
        </p:nvSpPr>
        <p:spPr>
          <a:xfrm>
            <a:off x="5657850" y="2143125"/>
            <a:ext cx="3486150" cy="2571750"/>
          </a:xfrm>
          <a:custGeom>
            <a:avLst/>
            <a:gdLst/>
            <a:ahLst/>
            <a:cxnLst/>
            <a:rect l="l" t="t" r="r" b="b"/>
            <a:pathLst>
              <a:path w="3486150" h="2571750">
                <a:moveTo>
                  <a:pt x="0" y="0"/>
                </a:moveTo>
                <a:lnTo>
                  <a:pt x="3486150" y="0"/>
                </a:lnTo>
                <a:lnTo>
                  <a:pt x="34861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053328" y="2318766"/>
            <a:ext cx="1847088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762" b="1">
                <a:solidFill>
                  <a:srgbClr val="4A79A7"/>
                </a:solidFill>
                <a:latin typeface="Roboto Bold"/>
                <a:ea typeface="Roboto Bold"/>
                <a:cs typeface="Roboto Bold"/>
                <a:sym typeface="Roboto Bold"/>
              </a:rPr>
              <a:t>District Intelligence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53328" y="3167336"/>
            <a:ext cx="2304288" cy="120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01" dirty="0">
                <a:solidFill>
                  <a:srgbClr val="1F4C37"/>
                </a:solidFill>
                <a:latin typeface="Roboto"/>
                <a:ea typeface="Roboto"/>
                <a:cs typeface="Roboto"/>
                <a:sym typeface="Roboto"/>
              </a:rPr>
              <a:t>High-risk districts and score factors</a:t>
            </a:r>
          </a:p>
          <a:p>
            <a:pPr>
              <a:lnSpc>
                <a:spcPts val="3222"/>
              </a:lnSpc>
            </a:pPr>
            <a:endParaRPr lang="en-US" sz="2301" dirty="0">
              <a:solidFill>
                <a:srgbClr val="1F4C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9144000" y="2143125"/>
            <a:ext cx="1095375" cy="2571750"/>
          </a:xfrm>
          <a:custGeom>
            <a:avLst/>
            <a:gdLst/>
            <a:ahLst/>
            <a:cxnLst/>
            <a:rect l="l" t="t" r="r" b="b"/>
            <a:pathLst>
              <a:path w="1095375" h="2571750">
                <a:moveTo>
                  <a:pt x="0" y="0"/>
                </a:moveTo>
                <a:lnTo>
                  <a:pt x="1095375" y="0"/>
                </a:lnTo>
                <a:lnTo>
                  <a:pt x="1095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436608" y="2413364"/>
            <a:ext cx="566928" cy="51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sz="386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010775" y="2143125"/>
            <a:ext cx="3495675" cy="2571750"/>
          </a:xfrm>
          <a:custGeom>
            <a:avLst/>
            <a:gdLst/>
            <a:ahLst/>
            <a:cxnLst/>
            <a:rect l="l" t="t" r="r" b="b"/>
            <a:pathLst>
              <a:path w="3495675" h="2571750">
                <a:moveTo>
                  <a:pt x="0" y="0"/>
                </a:moveTo>
                <a:lnTo>
                  <a:pt x="3495675" y="0"/>
                </a:lnTo>
                <a:lnTo>
                  <a:pt x="34956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479024" y="2347341"/>
            <a:ext cx="2377440" cy="809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6" b="1" dirty="0">
                <a:solidFill>
                  <a:srgbClr val="1F4C37"/>
                </a:solidFill>
                <a:latin typeface="Roboto Bold"/>
                <a:ea typeface="Roboto Bold"/>
                <a:cs typeface="Roboto Bold"/>
                <a:sym typeface="Roboto Bold"/>
              </a:rPr>
              <a:t>Claim Investigation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19207" y="3228327"/>
            <a:ext cx="2924937" cy="769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301" dirty="0">
                <a:solidFill>
                  <a:srgbClr val="1F4C37"/>
                </a:solidFill>
                <a:latin typeface="Roboto"/>
                <a:ea typeface="Roboto"/>
                <a:cs typeface="Roboto"/>
                <a:sym typeface="Roboto"/>
              </a:rPr>
              <a:t>statutory workflow &amp; processing timeline</a:t>
            </a:r>
          </a:p>
        </p:txBody>
      </p:sp>
      <p:sp>
        <p:nvSpPr>
          <p:cNvPr id="20" name="Freeform 20"/>
          <p:cNvSpPr/>
          <p:nvPr/>
        </p:nvSpPr>
        <p:spPr>
          <a:xfrm>
            <a:off x="13496925" y="2143125"/>
            <a:ext cx="1095375" cy="2571750"/>
          </a:xfrm>
          <a:custGeom>
            <a:avLst/>
            <a:gdLst/>
            <a:ahLst/>
            <a:cxnLst/>
            <a:rect l="l" t="t" r="r" b="b"/>
            <a:pathLst>
              <a:path w="1095375" h="2571750">
                <a:moveTo>
                  <a:pt x="0" y="0"/>
                </a:moveTo>
                <a:lnTo>
                  <a:pt x="1095375" y="0"/>
                </a:lnTo>
                <a:lnTo>
                  <a:pt x="1095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3716000" y="2413364"/>
            <a:ext cx="566928" cy="51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sz="386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22" name="Freeform 22"/>
          <p:cNvSpPr/>
          <p:nvPr/>
        </p:nvSpPr>
        <p:spPr>
          <a:xfrm>
            <a:off x="14363700" y="2143125"/>
            <a:ext cx="3495675" cy="2571750"/>
          </a:xfrm>
          <a:custGeom>
            <a:avLst/>
            <a:gdLst/>
            <a:ahLst/>
            <a:cxnLst/>
            <a:rect l="l" t="t" r="r" b="b"/>
            <a:pathLst>
              <a:path w="3495675" h="2571750">
                <a:moveTo>
                  <a:pt x="0" y="0"/>
                </a:moveTo>
                <a:lnTo>
                  <a:pt x="3495675" y="0"/>
                </a:lnTo>
                <a:lnTo>
                  <a:pt x="34956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4685264" y="2317432"/>
            <a:ext cx="2993136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762" b="1" dirty="0">
                <a:solidFill>
                  <a:srgbClr val="4A79A7"/>
                </a:solidFill>
                <a:latin typeface="Roboto Bold"/>
                <a:ea typeface="Roboto Bold"/>
                <a:cs typeface="Roboto Bold"/>
                <a:sym typeface="Roboto Bold"/>
              </a:rPr>
              <a:t>Evidence Graph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85264" y="2917141"/>
            <a:ext cx="2724912" cy="1554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000" dirty="0">
                <a:solidFill>
                  <a:srgbClr val="1F4C37"/>
                </a:solidFill>
                <a:latin typeface="Roboto"/>
                <a:ea typeface="Roboto"/>
                <a:cs typeface="Roboto"/>
                <a:sym typeface="Roboto"/>
              </a:rPr>
              <a:t>Claims linked to land records, parcels, forest zones, workflow stages</a:t>
            </a:r>
          </a:p>
          <a:p>
            <a:pPr algn="l">
              <a:lnSpc>
                <a:spcPts val="3107"/>
              </a:lnSpc>
            </a:pPr>
            <a:endParaRPr lang="en-US" sz="2000" dirty="0">
              <a:solidFill>
                <a:srgbClr val="1F4C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28625" y="4924425"/>
            <a:ext cx="1095375" cy="2581275"/>
          </a:xfrm>
          <a:custGeom>
            <a:avLst/>
            <a:gdLst/>
            <a:ahLst/>
            <a:cxnLst/>
            <a:rect l="l" t="t" r="r" b="b"/>
            <a:pathLst>
              <a:path w="1095375" h="2581275">
                <a:moveTo>
                  <a:pt x="0" y="0"/>
                </a:moveTo>
                <a:lnTo>
                  <a:pt x="1095375" y="0"/>
                </a:lnTo>
                <a:lnTo>
                  <a:pt x="1095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749808" y="5273150"/>
            <a:ext cx="566928" cy="51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sz="386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27" name="Freeform 27"/>
          <p:cNvSpPr/>
          <p:nvPr/>
        </p:nvSpPr>
        <p:spPr>
          <a:xfrm>
            <a:off x="1304925" y="4924425"/>
            <a:ext cx="3486150" cy="2790825"/>
          </a:xfrm>
          <a:custGeom>
            <a:avLst/>
            <a:gdLst/>
            <a:ahLst/>
            <a:cxnLst/>
            <a:rect l="l" t="t" r="r" b="b"/>
            <a:pathLst>
              <a:path w="3486150" h="2790825">
                <a:moveTo>
                  <a:pt x="0" y="0"/>
                </a:moveTo>
                <a:lnTo>
                  <a:pt x="3486150" y="0"/>
                </a:lnTo>
                <a:lnTo>
                  <a:pt x="34861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700784" y="5178552"/>
            <a:ext cx="1682496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b="1" dirty="0">
                <a:solidFill>
                  <a:srgbClr val="4A79A7"/>
                </a:solidFill>
                <a:latin typeface="Roboto Bold"/>
                <a:ea typeface="Roboto Bold"/>
                <a:cs typeface="Roboto Bold"/>
                <a:sym typeface="Roboto Bold"/>
              </a:rPr>
              <a:t>AI Priority </a:t>
            </a:r>
          </a:p>
          <a:p>
            <a:pPr algn="l">
              <a:lnSpc>
                <a:spcPts val="3357"/>
              </a:lnSpc>
            </a:pPr>
            <a:r>
              <a:rPr lang="en-US" sz="2797" b="1" dirty="0">
                <a:solidFill>
                  <a:srgbClr val="4A79A7"/>
                </a:solidFill>
                <a:latin typeface="Roboto Bold"/>
                <a:ea typeface="Roboto Bold"/>
                <a:cs typeface="Roboto Bold"/>
                <a:sym typeface="Roboto Bold"/>
              </a:rPr>
              <a:t>Queue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00784" y="6218003"/>
            <a:ext cx="2194560" cy="119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01">
                <a:solidFill>
                  <a:srgbClr val="1F4C37"/>
                </a:solidFill>
                <a:latin typeface="Roboto"/>
                <a:ea typeface="Roboto"/>
                <a:cs typeface="Roboto"/>
                <a:sym typeface="Roboto"/>
              </a:rPr>
              <a:t>Immediate, High, Medium priority ranking</a:t>
            </a:r>
          </a:p>
        </p:txBody>
      </p:sp>
      <p:sp>
        <p:nvSpPr>
          <p:cNvPr id="30" name="Freeform 30"/>
          <p:cNvSpPr/>
          <p:nvPr/>
        </p:nvSpPr>
        <p:spPr>
          <a:xfrm>
            <a:off x="4781550" y="4924425"/>
            <a:ext cx="1104900" cy="2581275"/>
          </a:xfrm>
          <a:custGeom>
            <a:avLst/>
            <a:gdLst/>
            <a:ahLst/>
            <a:cxnLst/>
            <a:rect l="l" t="t" r="r" b="b"/>
            <a:pathLst>
              <a:path w="1104900" h="2581275">
                <a:moveTo>
                  <a:pt x="0" y="0"/>
                </a:moveTo>
                <a:lnTo>
                  <a:pt x="1104900" y="0"/>
                </a:lnTo>
                <a:lnTo>
                  <a:pt x="11049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5102352" y="5273150"/>
            <a:ext cx="566928" cy="51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sz="386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id="32" name="Freeform 32"/>
          <p:cNvSpPr/>
          <p:nvPr/>
        </p:nvSpPr>
        <p:spPr>
          <a:xfrm>
            <a:off x="5657850" y="4924425"/>
            <a:ext cx="3486150" cy="2790825"/>
          </a:xfrm>
          <a:custGeom>
            <a:avLst/>
            <a:gdLst/>
            <a:ahLst/>
            <a:cxnLst/>
            <a:rect l="l" t="t" r="r" b="b"/>
            <a:pathLst>
              <a:path w="3486150" h="2790825">
                <a:moveTo>
                  <a:pt x="0" y="0"/>
                </a:moveTo>
                <a:lnTo>
                  <a:pt x="3486150" y="0"/>
                </a:lnTo>
                <a:lnTo>
                  <a:pt x="34861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6053328" y="5177218"/>
            <a:ext cx="217627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762" b="1">
                <a:solidFill>
                  <a:srgbClr val="1F4C37"/>
                </a:solidFill>
                <a:latin typeface="Roboto Bold"/>
                <a:ea typeface="Roboto Bold"/>
                <a:cs typeface="Roboto Bold"/>
                <a:sym typeface="Roboto Bold"/>
              </a:rPr>
              <a:t>Early Warning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53328" y="6163236"/>
            <a:ext cx="2615184" cy="853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698">
                <a:solidFill>
                  <a:srgbClr val="1F4C37"/>
                </a:solidFill>
                <a:latin typeface="Roboto"/>
                <a:ea typeface="Roboto"/>
                <a:cs typeface="Roboto"/>
                <a:sym typeface="Roboto"/>
              </a:rPr>
              <a:t>approaching delays, backlogs, emerging anomalies</a:t>
            </a:r>
          </a:p>
        </p:txBody>
      </p:sp>
      <p:sp>
        <p:nvSpPr>
          <p:cNvPr id="35" name="Freeform 35"/>
          <p:cNvSpPr/>
          <p:nvPr/>
        </p:nvSpPr>
        <p:spPr>
          <a:xfrm>
            <a:off x="9144000" y="4924425"/>
            <a:ext cx="1095375" cy="2581275"/>
          </a:xfrm>
          <a:custGeom>
            <a:avLst/>
            <a:gdLst/>
            <a:ahLst/>
            <a:cxnLst/>
            <a:rect l="l" t="t" r="r" b="b"/>
            <a:pathLst>
              <a:path w="1095375" h="2581275">
                <a:moveTo>
                  <a:pt x="0" y="0"/>
                </a:moveTo>
                <a:lnTo>
                  <a:pt x="1095375" y="0"/>
                </a:lnTo>
                <a:lnTo>
                  <a:pt x="1095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9436608" y="5273150"/>
            <a:ext cx="566928" cy="51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sz="386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07</a:t>
            </a:r>
          </a:p>
        </p:txBody>
      </p:sp>
      <p:sp>
        <p:nvSpPr>
          <p:cNvPr id="37" name="Freeform 37"/>
          <p:cNvSpPr/>
          <p:nvPr/>
        </p:nvSpPr>
        <p:spPr>
          <a:xfrm>
            <a:off x="10010775" y="4924425"/>
            <a:ext cx="3495675" cy="2790825"/>
          </a:xfrm>
          <a:custGeom>
            <a:avLst/>
            <a:gdLst/>
            <a:ahLst/>
            <a:cxnLst/>
            <a:rect l="l" t="t" r="r" b="b"/>
            <a:pathLst>
              <a:path w="3495675" h="2790825">
                <a:moveTo>
                  <a:pt x="0" y="0"/>
                </a:moveTo>
                <a:lnTo>
                  <a:pt x="3495675" y="0"/>
                </a:lnTo>
                <a:lnTo>
                  <a:pt x="34956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0479024" y="5207127"/>
            <a:ext cx="1444752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585" b="1">
                <a:solidFill>
                  <a:srgbClr val="4A79A7"/>
                </a:solidFill>
                <a:latin typeface="Roboto Bold"/>
                <a:ea typeface="Roboto Bold"/>
                <a:cs typeface="Roboto Bold"/>
                <a:sym typeface="Roboto Bold"/>
              </a:rPr>
              <a:t>What If Simulator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424160" y="6248121"/>
            <a:ext cx="2542032" cy="1148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230">
                <a:solidFill>
                  <a:srgbClr val="1F4C37"/>
                </a:solidFill>
                <a:latin typeface="Roboto"/>
                <a:ea typeface="Roboto"/>
                <a:cs typeface="Roboto"/>
                <a:sym typeface="Roboto"/>
              </a:rPr>
              <a:t>simulate effect of increasing processing capacity</a:t>
            </a:r>
          </a:p>
        </p:txBody>
      </p:sp>
      <p:sp>
        <p:nvSpPr>
          <p:cNvPr id="40" name="Freeform 40"/>
          <p:cNvSpPr/>
          <p:nvPr/>
        </p:nvSpPr>
        <p:spPr>
          <a:xfrm>
            <a:off x="13496925" y="4924425"/>
            <a:ext cx="1095375" cy="2581275"/>
          </a:xfrm>
          <a:custGeom>
            <a:avLst/>
            <a:gdLst/>
            <a:ahLst/>
            <a:cxnLst/>
            <a:rect l="l" t="t" r="r" b="b"/>
            <a:pathLst>
              <a:path w="1095375" h="2581275">
                <a:moveTo>
                  <a:pt x="0" y="0"/>
                </a:moveTo>
                <a:lnTo>
                  <a:pt x="1095375" y="0"/>
                </a:lnTo>
                <a:lnTo>
                  <a:pt x="1095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3716000" y="5273150"/>
            <a:ext cx="566928" cy="51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1"/>
              </a:lnSpc>
            </a:pPr>
            <a:r>
              <a:rPr lang="en-US" sz="386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08</a:t>
            </a:r>
          </a:p>
        </p:txBody>
      </p:sp>
      <p:sp>
        <p:nvSpPr>
          <p:cNvPr id="42" name="Freeform 42"/>
          <p:cNvSpPr/>
          <p:nvPr/>
        </p:nvSpPr>
        <p:spPr>
          <a:xfrm>
            <a:off x="14363700" y="4924425"/>
            <a:ext cx="3495675" cy="2790825"/>
          </a:xfrm>
          <a:custGeom>
            <a:avLst/>
            <a:gdLst/>
            <a:ahLst/>
            <a:cxnLst/>
            <a:rect l="l" t="t" r="r" b="b"/>
            <a:pathLst>
              <a:path w="3495675" h="2790825">
                <a:moveTo>
                  <a:pt x="0" y="0"/>
                </a:moveTo>
                <a:lnTo>
                  <a:pt x="3495675" y="0"/>
                </a:lnTo>
                <a:lnTo>
                  <a:pt x="34956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4685264" y="5191506"/>
            <a:ext cx="1847088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726" b="1">
                <a:solidFill>
                  <a:srgbClr val="1F4C37"/>
                </a:solidFill>
                <a:latin typeface="Roboto Bold"/>
                <a:ea typeface="Roboto Bold"/>
                <a:cs typeface="Roboto Bold"/>
                <a:sym typeface="Roboto Bold"/>
              </a:rPr>
              <a:t>FRA Copilot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685264" y="5818075"/>
            <a:ext cx="2615184" cy="156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301">
                <a:solidFill>
                  <a:srgbClr val="1F4C37"/>
                </a:solidFill>
                <a:latin typeface="Roboto"/>
                <a:ea typeface="Roboto"/>
                <a:cs typeface="Roboto"/>
                <a:sym typeface="Roboto"/>
              </a:rPr>
              <a:t>structured Analysis → Recommendation → Data Basis</a:t>
            </a:r>
          </a:p>
        </p:txBody>
      </p:sp>
      <p:sp>
        <p:nvSpPr>
          <p:cNvPr id="45" name="Freeform 45"/>
          <p:cNvSpPr/>
          <p:nvPr/>
        </p:nvSpPr>
        <p:spPr>
          <a:xfrm>
            <a:off x="428625" y="7924800"/>
            <a:ext cx="17430750" cy="2152650"/>
          </a:xfrm>
          <a:custGeom>
            <a:avLst/>
            <a:gdLst/>
            <a:ahLst/>
            <a:cxnLst/>
            <a:rect l="l" t="t" r="r" b="b"/>
            <a:pathLst>
              <a:path w="17430750" h="2152650">
                <a:moveTo>
                  <a:pt x="0" y="0"/>
                </a:moveTo>
                <a:lnTo>
                  <a:pt x="17430750" y="0"/>
                </a:lnTo>
                <a:lnTo>
                  <a:pt x="174307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085850" y="8143875"/>
            <a:ext cx="1314450" cy="1285875"/>
          </a:xfrm>
          <a:custGeom>
            <a:avLst/>
            <a:gdLst/>
            <a:ahLst/>
            <a:cxnLst/>
            <a:rect l="l" t="t" r="r" b="b"/>
            <a:pathLst>
              <a:path w="1314450" h="1285875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2779775" y="8313229"/>
            <a:ext cx="2373249" cy="396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6" b="1" dirty="0">
                <a:solidFill>
                  <a:srgbClr val="1F4C37"/>
                </a:solidFill>
                <a:latin typeface="Roboto Bold"/>
                <a:ea typeface="Roboto Bold"/>
                <a:cs typeface="Roboto Bold"/>
                <a:sym typeface="Roboto Bold"/>
              </a:rPr>
              <a:t>Unified view.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779776" y="8765667"/>
            <a:ext cx="219456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>
                <a:solidFill>
                  <a:srgbClr val="1F4C37"/>
                </a:solidFill>
                <a:latin typeface="Roboto"/>
                <a:ea typeface="Roboto"/>
                <a:cs typeface="Roboto"/>
                <a:sym typeface="Roboto"/>
              </a:rPr>
              <a:t>From claims to decisions.</a:t>
            </a:r>
          </a:p>
        </p:txBody>
      </p:sp>
      <p:sp>
        <p:nvSpPr>
          <p:cNvPr id="49" name="Freeform 49"/>
          <p:cNvSpPr/>
          <p:nvPr/>
        </p:nvSpPr>
        <p:spPr>
          <a:xfrm>
            <a:off x="6096000" y="8143875"/>
            <a:ext cx="219075" cy="1504950"/>
          </a:xfrm>
          <a:custGeom>
            <a:avLst/>
            <a:gdLst/>
            <a:ahLst/>
            <a:cxnLst/>
            <a:rect l="l" t="t" r="r" b="b"/>
            <a:pathLst>
              <a:path w="219075" h="1504950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6743700" y="8353425"/>
            <a:ext cx="1314450" cy="1076325"/>
          </a:xfrm>
          <a:custGeom>
            <a:avLst/>
            <a:gdLst/>
            <a:ahLst/>
            <a:cxnLst/>
            <a:rect l="l" t="t" r="r" b="b"/>
            <a:pathLst>
              <a:path w="1314450" h="1076325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8247888" y="8313229"/>
            <a:ext cx="2648712" cy="396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6" b="1" dirty="0">
                <a:solidFill>
                  <a:srgbClr val="1F4C37"/>
                </a:solidFill>
                <a:latin typeface="Roboto Bold"/>
                <a:ea typeface="Roboto Bold"/>
                <a:cs typeface="Roboto Bold"/>
                <a:sym typeface="Roboto Bold"/>
              </a:rPr>
              <a:t>Faster &amp; fairer.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045184" y="8298943"/>
            <a:ext cx="287121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691" b="1" dirty="0">
                <a:solidFill>
                  <a:srgbClr val="1F4C37"/>
                </a:solidFill>
                <a:latin typeface="Roboto Bold"/>
                <a:ea typeface="Roboto Bold"/>
                <a:cs typeface="Roboto Bold"/>
                <a:sym typeface="Roboto Bold"/>
              </a:rPr>
              <a:t>Stronger forests.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47888" y="8765667"/>
            <a:ext cx="3255264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>
                <a:solidFill>
                  <a:srgbClr val="1F4C37"/>
                </a:solidFill>
                <a:latin typeface="Roboto"/>
                <a:ea typeface="Roboto"/>
                <a:cs typeface="Roboto"/>
                <a:sym typeface="Roboto"/>
              </a:rPr>
              <a:t>Data-led prioritization, human-led decisions.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045184" y="8765667"/>
            <a:ext cx="2871216" cy="790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 dirty="0">
                <a:solidFill>
                  <a:srgbClr val="1F4C37"/>
                </a:solidFill>
                <a:latin typeface="Roboto"/>
                <a:ea typeface="Roboto"/>
                <a:cs typeface="Roboto"/>
                <a:sym typeface="Roboto"/>
              </a:rPr>
              <a:t>Better governance, better outcomes.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15D0ED-5F14-C61F-BD81-A42482E4BCCE}"/>
              </a:ext>
            </a:extLst>
          </p:cNvPr>
          <p:cNvSpPr txBox="1"/>
          <p:nvPr/>
        </p:nvSpPr>
        <p:spPr>
          <a:xfrm>
            <a:off x="11025760" y="114300"/>
            <a:ext cx="6833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DEMO LINKS: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GIS MAP: </a:t>
            </a:r>
            <a:r>
              <a:rPr lang="en-US" dirty="0"/>
              <a:t>https://origin-red.vercel.app/overview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CLAIM: </a:t>
            </a:r>
            <a:r>
              <a:rPr lang="en-US" dirty="0"/>
              <a:t>https://origin-red.vercel.app/claims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EARLY WARNING: </a:t>
            </a:r>
            <a:r>
              <a:rPr lang="en-US" dirty="0"/>
              <a:t>https://origin-red.vercel.app/early-warning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Roboto Bold"/>
                <a:ea typeface="Roboto Bold"/>
                <a:cs typeface="Roboto Bold"/>
                <a:sym typeface="Roboto Bold"/>
              </a:rPr>
              <a:t>AI Priority Queue:</a:t>
            </a:r>
            <a:r>
              <a:rPr lang="en-US" sz="1100" b="1" dirty="0">
                <a:solidFill>
                  <a:srgbClr val="4A79A7"/>
                </a:solidFill>
                <a:latin typeface="Roboto Bold"/>
                <a:ea typeface="Roboto Bold"/>
                <a:cs typeface="Roboto Bold"/>
                <a:sym typeface="Roboto Bold"/>
              </a:rPr>
              <a:t>  </a:t>
            </a:r>
            <a:r>
              <a:rPr lang="en-US" dirty="0">
                <a:hlinkClick r:id="rId24"/>
              </a:rPr>
              <a:t>https://origin-red.vercel.app/priority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Simulator: </a:t>
            </a:r>
            <a:r>
              <a:rPr lang="en-US" dirty="0"/>
              <a:t>https://origin-red.vercel.app/simulator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4944" y="360807"/>
            <a:ext cx="943660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3"/>
              </a:lnSpc>
            </a:pPr>
            <a:r>
              <a:rPr lang="en-US" sz="8469" b="1">
                <a:solidFill>
                  <a:srgbClr val="14543D"/>
                </a:solidFill>
                <a:latin typeface="Roboto Bold"/>
                <a:ea typeface="Roboto Bold"/>
                <a:cs typeface="Roboto Bold"/>
                <a:sym typeface="Roboto Bold"/>
              </a:rPr>
              <a:t>How Our AI Works.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708595"/>
            <a:ext cx="9162288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Hybrid AI engine with explainable, decomposable risk scoring.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2571750"/>
            <a:ext cx="5238750" cy="3648075"/>
          </a:xfrm>
          <a:custGeom>
            <a:avLst/>
            <a:gdLst/>
            <a:ahLst/>
            <a:cxnLst/>
            <a:rect l="l" t="t" r="r" b="b"/>
            <a:pathLst>
              <a:path w="5238750" h="3648075">
                <a:moveTo>
                  <a:pt x="0" y="0"/>
                </a:moveTo>
                <a:lnTo>
                  <a:pt x="5238750" y="0"/>
                </a:lnTo>
                <a:lnTo>
                  <a:pt x="52387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7700" y="2571750"/>
            <a:ext cx="5238750" cy="857250"/>
          </a:xfrm>
          <a:custGeom>
            <a:avLst/>
            <a:gdLst/>
            <a:ahLst/>
            <a:cxnLst/>
            <a:rect l="l" t="t" r="r" b="b"/>
            <a:pathLst>
              <a:path w="5238750" h="857250">
                <a:moveTo>
                  <a:pt x="0" y="0"/>
                </a:moveTo>
                <a:lnTo>
                  <a:pt x="5238750" y="0"/>
                </a:lnTo>
                <a:lnTo>
                  <a:pt x="5238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97280" y="2742057"/>
            <a:ext cx="3712464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51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Deterministic Rule Engine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7280" y="3506534"/>
            <a:ext cx="354787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2053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Checks known risk signals with clear, consistent rules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7280" y="4343400"/>
            <a:ext cx="310896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Processing delay &gt;180 days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7280" y="4796028"/>
            <a:ext cx="197510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Record mismatch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7280" y="5217795"/>
            <a:ext cx="192024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Area discrepancy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7280" y="5675185"/>
            <a:ext cx="223113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Workflow bottleneck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7700" y="6210300"/>
            <a:ext cx="5238750" cy="2581275"/>
          </a:xfrm>
          <a:custGeom>
            <a:avLst/>
            <a:gdLst/>
            <a:ahLst/>
            <a:cxnLst/>
            <a:rect l="l" t="t" r="r" b="b"/>
            <a:pathLst>
              <a:path w="5238750" h="2581275">
                <a:moveTo>
                  <a:pt x="0" y="0"/>
                </a:moveTo>
                <a:lnTo>
                  <a:pt x="5238750" y="0"/>
                </a:lnTo>
                <a:lnTo>
                  <a:pt x="52387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47700" y="6210300"/>
            <a:ext cx="5238750" cy="866775"/>
          </a:xfrm>
          <a:custGeom>
            <a:avLst/>
            <a:gdLst/>
            <a:ahLst/>
            <a:cxnLst/>
            <a:rect l="l" t="t" r="r" b="b"/>
            <a:pathLst>
              <a:path w="5238750" h="866775">
                <a:moveTo>
                  <a:pt x="0" y="0"/>
                </a:moveTo>
                <a:lnTo>
                  <a:pt x="5238750" y="0"/>
                </a:lnTo>
                <a:lnTo>
                  <a:pt x="5238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97280" y="6507099"/>
            <a:ext cx="3182112" cy="379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Isolation Forest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7280" y="7785926"/>
            <a:ext cx="318211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Flags unusual combinations that don’t follow the norm</a:t>
            </a:r>
          </a:p>
        </p:txBody>
      </p:sp>
      <p:sp>
        <p:nvSpPr>
          <p:cNvPr id="17" name="Freeform 17"/>
          <p:cNvSpPr/>
          <p:nvPr/>
        </p:nvSpPr>
        <p:spPr>
          <a:xfrm>
            <a:off x="5657850" y="2781300"/>
            <a:ext cx="657225" cy="5153025"/>
          </a:xfrm>
          <a:custGeom>
            <a:avLst/>
            <a:gdLst/>
            <a:ahLst/>
            <a:cxnLst/>
            <a:rect l="l" t="t" r="r" b="b"/>
            <a:pathLst>
              <a:path w="657225" h="5153025">
                <a:moveTo>
                  <a:pt x="0" y="0"/>
                </a:moveTo>
                <a:lnTo>
                  <a:pt x="657225" y="0"/>
                </a:lnTo>
                <a:lnTo>
                  <a:pt x="657225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305550" y="4924425"/>
            <a:ext cx="885825" cy="438150"/>
          </a:xfrm>
          <a:custGeom>
            <a:avLst/>
            <a:gdLst/>
            <a:ahLst/>
            <a:cxnLst/>
            <a:rect l="l" t="t" r="r" b="b"/>
            <a:pathLst>
              <a:path w="885825" h="438150">
                <a:moveTo>
                  <a:pt x="0" y="0"/>
                </a:moveTo>
                <a:lnTo>
                  <a:pt x="885825" y="0"/>
                </a:lnTo>
                <a:lnTo>
                  <a:pt x="8858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388352" y="3323653"/>
            <a:ext cx="351129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4"/>
              </a:lnSpc>
            </a:pPr>
            <a:r>
              <a:rPr lang="en-US" sz="2620" b="1">
                <a:solidFill>
                  <a:srgbClr val="14543D"/>
                </a:solidFill>
                <a:latin typeface="Roboto Bold"/>
                <a:ea typeface="Roboto Bold"/>
                <a:cs typeface="Roboto Bold"/>
                <a:sym typeface="Roboto Bold"/>
              </a:rPr>
              <a:t>Composite Risk Score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36992" y="3712083"/>
            <a:ext cx="2414016" cy="252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62"/>
              </a:lnSpc>
            </a:pPr>
            <a:r>
              <a:rPr lang="en-US" sz="16552" b="1">
                <a:solidFill>
                  <a:srgbClr val="E69D3B"/>
                </a:solidFill>
                <a:latin typeface="Roboto Bold"/>
                <a:ea typeface="Roboto Bold"/>
                <a:cs typeface="Roboto Bold"/>
                <a:sym typeface="Roboto Bold"/>
              </a:rPr>
              <a:t>78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13648" y="5991225"/>
            <a:ext cx="1060704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1"/>
              </a:lnSpc>
            </a:pPr>
            <a:r>
              <a:rPr lang="en-US" sz="3967" b="1">
                <a:solidFill>
                  <a:srgbClr val="E69D3B"/>
                </a:solidFill>
                <a:latin typeface="Roboto Bold"/>
                <a:ea typeface="Roboto Bold"/>
                <a:cs typeface="Roboto Bold"/>
                <a:sym typeface="Roboto Bold"/>
              </a:rPr>
              <a:t>/100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45552" y="6851332"/>
            <a:ext cx="2596896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2549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Every risk score is explainable and decomposable.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315700" y="2571750"/>
            <a:ext cx="228600" cy="6219825"/>
          </a:xfrm>
          <a:custGeom>
            <a:avLst/>
            <a:gdLst/>
            <a:ahLst/>
            <a:cxnLst/>
            <a:rect l="l" t="t" r="r" b="b"/>
            <a:pathLst>
              <a:path w="228600" h="6219825">
                <a:moveTo>
                  <a:pt x="0" y="0"/>
                </a:moveTo>
                <a:lnTo>
                  <a:pt x="228600" y="0"/>
                </a:lnTo>
                <a:lnTo>
                  <a:pt x="228600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905488" y="2541079"/>
            <a:ext cx="327355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1">
                <a:solidFill>
                  <a:srgbClr val="14543D"/>
                </a:solidFill>
                <a:latin typeface="Roboto Bold"/>
                <a:ea typeface="Roboto Bold"/>
                <a:cs typeface="Roboto Bold"/>
                <a:sym typeface="Roboto Bold"/>
              </a:rPr>
              <a:t>Why this case is flagged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05488" y="2995803"/>
            <a:ext cx="371246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Top factor contribution (example)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905488" y="3983355"/>
            <a:ext cx="197510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Processing Delay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144625" y="3857625"/>
            <a:ext cx="2838450" cy="647700"/>
          </a:xfrm>
          <a:custGeom>
            <a:avLst/>
            <a:gdLst/>
            <a:ahLst/>
            <a:cxnLst/>
            <a:rect l="l" t="t" r="r" b="b"/>
            <a:pathLst>
              <a:path w="2838450" h="647700">
                <a:moveTo>
                  <a:pt x="0" y="0"/>
                </a:moveTo>
                <a:lnTo>
                  <a:pt x="2838450" y="0"/>
                </a:lnTo>
                <a:lnTo>
                  <a:pt x="2838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1905488" y="4796028"/>
            <a:ext cx="212140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Record Mismatch</a:t>
            </a:r>
          </a:p>
        </p:txBody>
      </p:sp>
      <p:sp>
        <p:nvSpPr>
          <p:cNvPr id="29" name="Freeform 29"/>
          <p:cNvSpPr/>
          <p:nvPr/>
        </p:nvSpPr>
        <p:spPr>
          <a:xfrm>
            <a:off x="14144625" y="4714875"/>
            <a:ext cx="2409825" cy="428625"/>
          </a:xfrm>
          <a:custGeom>
            <a:avLst/>
            <a:gdLst/>
            <a:ahLst/>
            <a:cxnLst/>
            <a:rect l="l" t="t" r="r" b="b"/>
            <a:pathLst>
              <a:path w="2409825" h="428625">
                <a:moveTo>
                  <a:pt x="0" y="0"/>
                </a:moveTo>
                <a:lnTo>
                  <a:pt x="2409825" y="0"/>
                </a:lnTo>
                <a:lnTo>
                  <a:pt x="24098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6605504" y="4801933"/>
            <a:ext cx="51206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1">
                <a:solidFill>
                  <a:srgbClr val="14543D"/>
                </a:solidFill>
                <a:latin typeface="Roboto Bold"/>
                <a:ea typeface="Roboto Bold"/>
                <a:cs typeface="Roboto Bold"/>
                <a:sym typeface="Roboto Bold"/>
              </a:rPr>
              <a:t>27%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05488" y="5608701"/>
            <a:ext cx="219456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Geographic Cluster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144625" y="5572125"/>
            <a:ext cx="1752600" cy="428625"/>
          </a:xfrm>
          <a:custGeom>
            <a:avLst/>
            <a:gdLst/>
            <a:ahLst/>
            <a:cxnLst/>
            <a:rect l="l" t="t" r="r" b="b"/>
            <a:pathLst>
              <a:path w="1752600" h="428625">
                <a:moveTo>
                  <a:pt x="0" y="0"/>
                </a:moveTo>
                <a:lnTo>
                  <a:pt x="1752600" y="0"/>
                </a:lnTo>
                <a:lnTo>
                  <a:pt x="1752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1905488" y="6441948"/>
            <a:ext cx="162763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Area Anomaly</a:t>
            </a:r>
          </a:p>
        </p:txBody>
      </p:sp>
      <p:sp>
        <p:nvSpPr>
          <p:cNvPr id="34" name="Freeform 34"/>
          <p:cNvSpPr/>
          <p:nvPr/>
        </p:nvSpPr>
        <p:spPr>
          <a:xfrm>
            <a:off x="14144625" y="6210300"/>
            <a:ext cx="1314450" cy="647700"/>
          </a:xfrm>
          <a:custGeom>
            <a:avLst/>
            <a:gdLst/>
            <a:ahLst/>
            <a:cxnLst/>
            <a:rect l="l" t="t" r="r" b="b"/>
            <a:pathLst>
              <a:path w="1314450" h="647700">
                <a:moveTo>
                  <a:pt x="0" y="0"/>
                </a:moveTo>
                <a:lnTo>
                  <a:pt x="1314450" y="0"/>
                </a:lnTo>
                <a:lnTo>
                  <a:pt x="1314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5489936" y="6447853"/>
            <a:ext cx="51206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1">
                <a:solidFill>
                  <a:srgbClr val="14543D"/>
                </a:solidFill>
                <a:latin typeface="Roboto Bold"/>
                <a:ea typeface="Roboto Bold"/>
                <a:cs typeface="Roboto Bold"/>
                <a:sym typeface="Roboto Bold"/>
              </a:rPr>
              <a:t>12%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905488" y="7259383"/>
            <a:ext cx="226771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Workflow Bottleneck</a:t>
            </a:r>
          </a:p>
        </p:txBody>
      </p:sp>
      <p:sp>
        <p:nvSpPr>
          <p:cNvPr id="37" name="Freeform 37"/>
          <p:cNvSpPr/>
          <p:nvPr/>
        </p:nvSpPr>
        <p:spPr>
          <a:xfrm>
            <a:off x="14144625" y="7067550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647700" y="9001125"/>
            <a:ext cx="16992600" cy="857250"/>
          </a:xfrm>
          <a:custGeom>
            <a:avLst/>
            <a:gdLst/>
            <a:ahLst/>
            <a:cxnLst/>
            <a:rect l="l" t="t" r="r" b="b"/>
            <a:pathLst>
              <a:path w="16992600" h="857250">
                <a:moveTo>
                  <a:pt x="0" y="0"/>
                </a:moveTo>
                <a:lnTo>
                  <a:pt x="16992600" y="0"/>
                </a:lnTo>
                <a:lnTo>
                  <a:pt x="16992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097280" y="7254621"/>
            <a:ext cx="380390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>
                <a:solidFill>
                  <a:srgbClr val="323232"/>
                </a:solidFill>
                <a:latin typeface="Roboto"/>
                <a:ea typeface="Roboto"/>
                <a:cs typeface="Roboto"/>
                <a:sym typeface="Roboto"/>
              </a:rPr>
              <a:t>Multidimensional outlier detection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971264" y="3989261"/>
            <a:ext cx="51206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1">
                <a:solidFill>
                  <a:srgbClr val="14543D"/>
                </a:solidFill>
                <a:latin typeface="Roboto Bold"/>
                <a:ea typeface="Roboto Bold"/>
                <a:cs typeface="Roboto Bold"/>
                <a:sym typeface="Roboto Bold"/>
              </a:rPr>
              <a:t>32%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020288" y="5614607"/>
            <a:ext cx="51206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1">
                <a:solidFill>
                  <a:srgbClr val="14543D"/>
                </a:solidFill>
                <a:latin typeface="Roboto Bold"/>
                <a:ea typeface="Roboto Bold"/>
                <a:cs typeface="Roboto Bold"/>
                <a:sym typeface="Roboto Bold"/>
              </a:rPr>
              <a:t>19%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288768" y="7260526"/>
            <a:ext cx="51206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1">
                <a:solidFill>
                  <a:srgbClr val="14543D"/>
                </a:solidFill>
                <a:latin typeface="Roboto Bold"/>
                <a:ea typeface="Roboto Bold"/>
                <a:cs typeface="Roboto Bold"/>
                <a:sym typeface="Roboto Bold"/>
              </a:rPr>
              <a:t>10%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68880" y="9186672"/>
            <a:ext cx="716889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7"/>
              </a:lnSpc>
            </a:pPr>
            <a:r>
              <a:rPr lang="en-US" sz="3223" b="1">
                <a:solidFill>
                  <a:srgbClr val="14543D"/>
                </a:solidFill>
                <a:latin typeface="Roboto Bold"/>
                <a:ea typeface="Roboto Bold"/>
                <a:cs typeface="Roboto Bold"/>
                <a:sym typeface="Roboto Bold"/>
              </a:rPr>
              <a:t>AI identifies what deserves attention.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784080" y="9186672"/>
            <a:ext cx="630936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7"/>
              </a:lnSpc>
            </a:pPr>
            <a:r>
              <a:rPr lang="en-US" sz="3223" b="1">
                <a:solidFill>
                  <a:srgbClr val="F4592F"/>
                </a:solidFill>
                <a:latin typeface="Roboto Bold"/>
                <a:ea typeface="Roboto Bold"/>
                <a:cs typeface="Roboto Bold"/>
                <a:sym typeface="Roboto Bold"/>
              </a:rPr>
              <a:t>Humans make the final decision.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1012C5-0157-EA54-4F3E-03272C284271}"/>
              </a:ext>
            </a:extLst>
          </p:cNvPr>
          <p:cNvSpPr txBox="1"/>
          <p:nvPr/>
        </p:nvSpPr>
        <p:spPr>
          <a:xfrm>
            <a:off x="10899648" y="480822"/>
            <a:ext cx="7142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FRA COPILOT DEMO LINK -  https://origin-red.vercel.app/copilot</a:t>
            </a:r>
            <a:endParaRPr lang="en-IN" sz="2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6384" y="509276"/>
            <a:ext cx="11722608" cy="12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39"/>
              </a:lnSpc>
            </a:pPr>
            <a:r>
              <a:rPr lang="en-US" sz="9639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Why VANRA Matters.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6384" y="1792532"/>
            <a:ext cx="8284464" cy="43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Actionable insights today. Responsible scaling tomorrow.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2352675"/>
            <a:ext cx="4362450" cy="1724025"/>
          </a:xfrm>
          <a:custGeom>
            <a:avLst/>
            <a:gdLst/>
            <a:ahLst/>
            <a:cxnLst/>
            <a:rect l="l" t="t" r="r" b="b"/>
            <a:pathLst>
              <a:path w="4362450" h="1724025">
                <a:moveTo>
                  <a:pt x="0" y="0"/>
                </a:moveTo>
                <a:lnTo>
                  <a:pt x="4362450" y="0"/>
                </a:lnTo>
                <a:lnTo>
                  <a:pt x="43624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83664" y="2698496"/>
            <a:ext cx="2103120" cy="87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0"/>
              </a:lnSpc>
            </a:pPr>
            <a:r>
              <a:rPr lang="en-US" sz="6520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4,781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42032" y="3501249"/>
            <a:ext cx="822960" cy="35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088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Claims</a:t>
            </a:r>
          </a:p>
        </p:txBody>
      </p:sp>
      <p:sp>
        <p:nvSpPr>
          <p:cNvPr id="8" name="Freeform 8"/>
          <p:cNvSpPr/>
          <p:nvPr/>
        </p:nvSpPr>
        <p:spPr>
          <a:xfrm>
            <a:off x="5000625" y="2352675"/>
            <a:ext cx="4143375" cy="1724025"/>
          </a:xfrm>
          <a:custGeom>
            <a:avLst/>
            <a:gdLst/>
            <a:ahLst/>
            <a:cxnLst/>
            <a:rect l="l" t="t" r="r" b="b"/>
            <a:pathLst>
              <a:path w="4143375" h="1724025">
                <a:moveTo>
                  <a:pt x="0" y="0"/>
                </a:moveTo>
                <a:lnTo>
                  <a:pt x="4143375" y="0"/>
                </a:lnTo>
                <a:lnTo>
                  <a:pt x="41433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528816" y="2677905"/>
            <a:ext cx="1024128" cy="94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sz="7016" b="1">
                <a:solidFill>
                  <a:srgbClr val="3F72A6"/>
                </a:solidFill>
                <a:latin typeface="Roboto Bold"/>
                <a:ea typeface="Roboto Bold"/>
                <a:cs typeface="Roboto Bold"/>
                <a:sym typeface="Roboto Bold"/>
              </a:rPr>
              <a:t>36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92240" y="3493074"/>
            <a:ext cx="1060704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219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Districts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8924925" y="2352675"/>
            <a:ext cx="4143375" cy="1724025"/>
          </a:xfrm>
          <a:custGeom>
            <a:avLst/>
            <a:gdLst/>
            <a:ahLst/>
            <a:cxnLst/>
            <a:rect l="l" t="t" r="r" b="b"/>
            <a:pathLst>
              <a:path w="4143375" h="1724025">
                <a:moveTo>
                  <a:pt x="0" y="0"/>
                </a:moveTo>
                <a:lnTo>
                  <a:pt x="4143375" y="0"/>
                </a:lnTo>
                <a:lnTo>
                  <a:pt x="41433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808208" y="2675654"/>
            <a:ext cx="512064" cy="954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3"/>
              </a:lnSpc>
            </a:pPr>
            <a:r>
              <a:rPr lang="en-US" sz="7193" b="1">
                <a:solidFill>
                  <a:srgbClr val="F4A62F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1904" y="3493074"/>
            <a:ext cx="804672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219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States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058775" y="2352675"/>
            <a:ext cx="4362450" cy="1724025"/>
          </a:xfrm>
          <a:custGeom>
            <a:avLst/>
            <a:gdLst/>
            <a:ahLst/>
            <a:cxnLst/>
            <a:rect l="l" t="t" r="r" b="b"/>
            <a:pathLst>
              <a:path w="4362450" h="1724025">
                <a:moveTo>
                  <a:pt x="0" y="0"/>
                </a:moveTo>
                <a:lnTo>
                  <a:pt x="4362450" y="0"/>
                </a:lnTo>
                <a:lnTo>
                  <a:pt x="436245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935075" y="2675654"/>
            <a:ext cx="2567940" cy="875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32"/>
              </a:lnSpc>
            </a:pPr>
            <a:r>
              <a:rPr lang="en-US" sz="6732" b="1" dirty="0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100%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356080" y="3479237"/>
            <a:ext cx="1828800" cy="39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Explainable 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1232" y="4201320"/>
            <a:ext cx="2852928" cy="283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9"/>
              </a:lnSpc>
            </a:pPr>
            <a:r>
              <a:rPr lang="en-US" sz="1592" i="1">
                <a:solidFill>
                  <a:srgbClr val="174931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Synthetic demonstration data</a:t>
            </a:r>
          </a:p>
        </p:txBody>
      </p:sp>
      <p:sp>
        <p:nvSpPr>
          <p:cNvPr id="18" name="Freeform 18"/>
          <p:cNvSpPr/>
          <p:nvPr/>
        </p:nvSpPr>
        <p:spPr>
          <a:xfrm>
            <a:off x="647700" y="4714875"/>
            <a:ext cx="5667375" cy="647700"/>
          </a:xfrm>
          <a:custGeom>
            <a:avLst/>
            <a:gdLst/>
            <a:ahLst/>
            <a:cxnLst/>
            <a:rect l="l" t="t" r="r" b="b"/>
            <a:pathLst>
              <a:path w="5667375" h="647700">
                <a:moveTo>
                  <a:pt x="0" y="0"/>
                </a:moveTo>
                <a:lnTo>
                  <a:pt x="5667375" y="0"/>
                </a:lnTo>
                <a:lnTo>
                  <a:pt x="5667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414016" y="4900281"/>
            <a:ext cx="2121408" cy="35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08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Impact Highlights</a:t>
            </a:r>
          </a:p>
        </p:txBody>
      </p:sp>
      <p:sp>
        <p:nvSpPr>
          <p:cNvPr id="20" name="Freeform 20"/>
          <p:cNvSpPr/>
          <p:nvPr/>
        </p:nvSpPr>
        <p:spPr>
          <a:xfrm>
            <a:off x="647700" y="5353050"/>
            <a:ext cx="5667375" cy="3867150"/>
          </a:xfrm>
          <a:custGeom>
            <a:avLst/>
            <a:gdLst/>
            <a:ahLst/>
            <a:cxnLst/>
            <a:rect l="l" t="t" r="r" b="b"/>
            <a:pathLst>
              <a:path w="5667375" h="3867150">
                <a:moveTo>
                  <a:pt x="0" y="0"/>
                </a:moveTo>
                <a:lnTo>
                  <a:pt x="5667375" y="0"/>
                </a:lnTo>
                <a:lnTo>
                  <a:pt x="566737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98448" y="5784599"/>
            <a:ext cx="4005072" cy="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Faster identification of delayed claims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85850" y="6210300"/>
            <a:ext cx="4800600" cy="219075"/>
          </a:xfrm>
          <a:custGeom>
            <a:avLst/>
            <a:gdLst/>
            <a:ahLst/>
            <a:cxnLst/>
            <a:rect l="l" t="t" r="r" b="b"/>
            <a:pathLst>
              <a:path w="4800600" h="219075">
                <a:moveTo>
                  <a:pt x="0" y="0"/>
                </a:moveTo>
                <a:lnTo>
                  <a:pt x="4800600" y="0"/>
                </a:lnTo>
                <a:lnTo>
                  <a:pt x="4800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298448" y="6452042"/>
            <a:ext cx="4389120" cy="30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Geographic visibility of emerging problems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85850" y="6858000"/>
            <a:ext cx="4800600" cy="219075"/>
          </a:xfrm>
          <a:custGeom>
            <a:avLst/>
            <a:gdLst/>
            <a:ahLst/>
            <a:cxnLst/>
            <a:rect l="l" t="t" r="r" b="b"/>
            <a:pathLst>
              <a:path w="4800600" h="219075">
                <a:moveTo>
                  <a:pt x="0" y="0"/>
                </a:moveTo>
                <a:lnTo>
                  <a:pt x="4800600" y="0"/>
                </a:lnTo>
                <a:lnTo>
                  <a:pt x="4800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298448" y="7091048"/>
            <a:ext cx="3054096" cy="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1" dirty="0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Evidence-based prioritization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85850" y="7496175"/>
            <a:ext cx="4800600" cy="219075"/>
          </a:xfrm>
          <a:custGeom>
            <a:avLst/>
            <a:gdLst/>
            <a:ahLst/>
            <a:cxnLst/>
            <a:rect l="l" t="t" r="r" b="b"/>
            <a:pathLst>
              <a:path w="4800600" h="219075">
                <a:moveTo>
                  <a:pt x="0" y="0"/>
                </a:moveTo>
                <a:lnTo>
                  <a:pt x="4800600" y="0"/>
                </a:lnTo>
                <a:lnTo>
                  <a:pt x="4800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298448" y="7749416"/>
            <a:ext cx="2706624" cy="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Transparent AI reasoning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85850" y="8143875"/>
            <a:ext cx="4800600" cy="219075"/>
          </a:xfrm>
          <a:custGeom>
            <a:avLst/>
            <a:gdLst/>
            <a:ahLst/>
            <a:cxnLst/>
            <a:rect l="l" t="t" r="r" b="b"/>
            <a:pathLst>
              <a:path w="4800600" h="219075">
                <a:moveTo>
                  <a:pt x="0" y="0"/>
                </a:moveTo>
                <a:lnTo>
                  <a:pt x="4800600" y="0"/>
                </a:lnTo>
                <a:lnTo>
                  <a:pt x="4800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98448" y="8397497"/>
            <a:ext cx="3840480" cy="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Reduced manual investigation effort</a:t>
            </a:r>
          </a:p>
        </p:txBody>
      </p:sp>
      <p:sp>
        <p:nvSpPr>
          <p:cNvPr id="30" name="Freeform 30"/>
          <p:cNvSpPr/>
          <p:nvPr/>
        </p:nvSpPr>
        <p:spPr>
          <a:xfrm>
            <a:off x="6305550" y="4714875"/>
            <a:ext cx="5019675" cy="647700"/>
          </a:xfrm>
          <a:custGeom>
            <a:avLst/>
            <a:gdLst/>
            <a:ahLst/>
            <a:cxnLst/>
            <a:rect l="l" t="t" r="r" b="b"/>
            <a:pathLst>
              <a:path w="5019675" h="647700">
                <a:moveTo>
                  <a:pt x="0" y="0"/>
                </a:moveTo>
                <a:lnTo>
                  <a:pt x="5019675" y="0"/>
                </a:lnTo>
                <a:lnTo>
                  <a:pt x="5019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7991856" y="4895968"/>
            <a:ext cx="1737360" cy="36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212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Trust &amp; Safety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05550" y="5353050"/>
            <a:ext cx="5019675" cy="3867150"/>
          </a:xfrm>
          <a:custGeom>
            <a:avLst/>
            <a:gdLst/>
            <a:ahLst/>
            <a:cxnLst/>
            <a:rect l="l" t="t" r="r" b="b"/>
            <a:pathLst>
              <a:path w="5019675" h="3867150">
                <a:moveTo>
                  <a:pt x="0" y="0"/>
                </a:moveTo>
                <a:lnTo>
                  <a:pt x="5019675" y="0"/>
                </a:lnTo>
                <a:lnTo>
                  <a:pt x="501967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7004304" y="5845459"/>
            <a:ext cx="3054096" cy="50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Human-in-the-loop</a:t>
            </a:r>
          </a:p>
          <a:p>
            <a:pPr algn="l">
              <a:lnSpc>
                <a:spcPts val="1985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no automated claim rejection</a:t>
            </a:r>
          </a:p>
        </p:txBody>
      </p:sp>
      <p:sp>
        <p:nvSpPr>
          <p:cNvPr id="34" name="Freeform 34"/>
          <p:cNvSpPr/>
          <p:nvPr/>
        </p:nvSpPr>
        <p:spPr>
          <a:xfrm>
            <a:off x="6962775" y="6429375"/>
            <a:ext cx="3924300" cy="219075"/>
          </a:xfrm>
          <a:custGeom>
            <a:avLst/>
            <a:gdLst/>
            <a:ahLst/>
            <a:cxnLst/>
            <a:rect l="l" t="t" r="r" b="b"/>
            <a:pathLst>
              <a:path w="3924300" h="219075">
                <a:moveTo>
                  <a:pt x="0" y="0"/>
                </a:moveTo>
                <a:lnTo>
                  <a:pt x="3924300" y="0"/>
                </a:lnTo>
                <a:lnTo>
                  <a:pt x="3924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7004304" y="6812437"/>
            <a:ext cx="2139696" cy="50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Synthetic demo data</a:t>
            </a:r>
          </a:p>
          <a:p>
            <a:pPr algn="l">
              <a:lnSpc>
                <a:spcPts val="1985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no real citizen PII</a:t>
            </a:r>
          </a:p>
        </p:txBody>
      </p:sp>
      <p:sp>
        <p:nvSpPr>
          <p:cNvPr id="36" name="Freeform 36"/>
          <p:cNvSpPr/>
          <p:nvPr/>
        </p:nvSpPr>
        <p:spPr>
          <a:xfrm>
            <a:off x="6962775" y="7496175"/>
            <a:ext cx="3924300" cy="219075"/>
          </a:xfrm>
          <a:custGeom>
            <a:avLst/>
            <a:gdLst/>
            <a:ahLst/>
            <a:cxnLst/>
            <a:rect l="l" t="t" r="r" b="b"/>
            <a:pathLst>
              <a:path w="3924300" h="219075">
                <a:moveTo>
                  <a:pt x="0" y="0"/>
                </a:moveTo>
                <a:lnTo>
                  <a:pt x="3924300" y="0"/>
                </a:lnTo>
                <a:lnTo>
                  <a:pt x="3924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7004304" y="7749416"/>
            <a:ext cx="3054096" cy="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Administrative language only</a:t>
            </a:r>
          </a:p>
        </p:txBody>
      </p:sp>
      <p:sp>
        <p:nvSpPr>
          <p:cNvPr id="38" name="Freeform 38"/>
          <p:cNvSpPr/>
          <p:nvPr/>
        </p:nvSpPr>
        <p:spPr>
          <a:xfrm>
            <a:off x="6962775" y="8143875"/>
            <a:ext cx="3924300" cy="219075"/>
          </a:xfrm>
          <a:custGeom>
            <a:avLst/>
            <a:gdLst/>
            <a:ahLst/>
            <a:cxnLst/>
            <a:rect l="l" t="t" r="r" b="b"/>
            <a:pathLst>
              <a:path w="3924300" h="219075">
                <a:moveTo>
                  <a:pt x="0" y="0"/>
                </a:moveTo>
                <a:lnTo>
                  <a:pt x="3924300" y="0"/>
                </a:lnTo>
                <a:lnTo>
                  <a:pt x="3924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7004304" y="8397497"/>
            <a:ext cx="2962656" cy="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Offline-capable architecture</a:t>
            </a:r>
          </a:p>
        </p:txBody>
      </p:sp>
      <p:sp>
        <p:nvSpPr>
          <p:cNvPr id="40" name="Freeform 40"/>
          <p:cNvSpPr/>
          <p:nvPr/>
        </p:nvSpPr>
        <p:spPr>
          <a:xfrm>
            <a:off x="11315700" y="4714875"/>
            <a:ext cx="6105525" cy="647700"/>
          </a:xfrm>
          <a:custGeom>
            <a:avLst/>
            <a:gdLst/>
            <a:ahLst/>
            <a:cxnLst/>
            <a:rect l="l" t="t" r="r" b="b"/>
            <a:pathLst>
              <a:path w="6105525" h="647700">
                <a:moveTo>
                  <a:pt x="0" y="0"/>
                </a:moveTo>
                <a:lnTo>
                  <a:pt x="6105525" y="0"/>
                </a:lnTo>
                <a:lnTo>
                  <a:pt x="6105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3222224" y="4900281"/>
            <a:ext cx="2450592" cy="356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08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Roadmap &amp; Security</a:t>
            </a:r>
          </a:p>
        </p:txBody>
      </p:sp>
      <p:sp>
        <p:nvSpPr>
          <p:cNvPr id="42" name="Freeform 42"/>
          <p:cNvSpPr/>
          <p:nvPr/>
        </p:nvSpPr>
        <p:spPr>
          <a:xfrm>
            <a:off x="11315700" y="5353050"/>
            <a:ext cx="6105525" cy="3867150"/>
          </a:xfrm>
          <a:custGeom>
            <a:avLst/>
            <a:gdLst/>
            <a:ahLst/>
            <a:cxnLst/>
            <a:rect l="l" t="t" r="r" b="b"/>
            <a:pathLst>
              <a:path w="6105525" h="3867150">
                <a:moveTo>
                  <a:pt x="0" y="0"/>
                </a:moveTo>
                <a:lnTo>
                  <a:pt x="6105525" y="0"/>
                </a:lnTo>
                <a:lnTo>
                  <a:pt x="61055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2839700" y="6000750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4582775" y="6000750"/>
            <a:ext cx="876300" cy="219075"/>
          </a:xfrm>
          <a:custGeom>
            <a:avLst/>
            <a:gdLst/>
            <a:ahLst/>
            <a:cxnLst/>
            <a:rect l="l" t="t" r="r" b="b"/>
            <a:pathLst>
              <a:path w="876300" h="219075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5654528" y="5786885"/>
            <a:ext cx="1335024" cy="630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1">
                <a:solidFill>
                  <a:srgbClr val="FF5722"/>
                </a:solidFill>
                <a:latin typeface="Roboto Bold"/>
                <a:ea typeface="Roboto Bold"/>
                <a:cs typeface="Roboto Bold"/>
                <a:sym typeface="Roboto Bold"/>
              </a:rPr>
              <a:t>Secure Deployment</a:t>
            </a:r>
          </a:p>
        </p:txBody>
      </p:sp>
      <p:sp>
        <p:nvSpPr>
          <p:cNvPr id="46" name="Freeform 46"/>
          <p:cNvSpPr/>
          <p:nvPr/>
        </p:nvSpPr>
        <p:spPr>
          <a:xfrm>
            <a:off x="11753850" y="6638925"/>
            <a:ext cx="5229225" cy="219075"/>
          </a:xfrm>
          <a:custGeom>
            <a:avLst/>
            <a:gdLst/>
            <a:ahLst/>
            <a:cxnLst/>
            <a:rect l="l" t="t" r="r" b="b"/>
            <a:pathLst>
              <a:path w="5229225" h="219075">
                <a:moveTo>
                  <a:pt x="0" y="0"/>
                </a:moveTo>
                <a:lnTo>
                  <a:pt x="5229225" y="0"/>
                </a:lnTo>
                <a:lnTo>
                  <a:pt x="5229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11996928" y="6966392"/>
            <a:ext cx="585216" cy="30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RBAC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996928" y="7440806"/>
            <a:ext cx="1133856" cy="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Encryption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795760" y="5918330"/>
            <a:ext cx="1024128" cy="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Prototype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008608" y="5927405"/>
            <a:ext cx="475488" cy="30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 b="1">
                <a:solidFill>
                  <a:srgbClr val="3F72A6"/>
                </a:solidFill>
                <a:latin typeface="Roboto Bold"/>
                <a:ea typeface="Roboto Bold"/>
                <a:cs typeface="Roboto Bold"/>
                <a:sym typeface="Roboto Bold"/>
              </a:rPr>
              <a:t>Pilot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996928" y="7924295"/>
            <a:ext cx="1188720" cy="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Audit Trails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996928" y="8397497"/>
            <a:ext cx="1901952" cy="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1">
                <a:solidFill>
                  <a:srgbClr val="174931"/>
                </a:solidFill>
                <a:latin typeface="Roboto Bold"/>
                <a:ea typeface="Roboto Bold"/>
                <a:cs typeface="Roboto Bold"/>
                <a:sym typeface="Roboto Bold"/>
              </a:rPr>
              <a:t>DPDPA Alignment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6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133931" y="-167927"/>
            <a:ext cx="6269711" cy="784104"/>
          </a:xfrm>
          <a:custGeom>
            <a:avLst/>
            <a:gdLst/>
            <a:ahLst/>
            <a:cxnLst/>
            <a:rect l="l" t="t" r="r" b="b"/>
            <a:pathLst>
              <a:path w="4362450" h="64770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84359" y="-105368"/>
            <a:ext cx="5809586" cy="647700"/>
          </a:xfrm>
          <a:custGeom>
            <a:avLst/>
            <a:gdLst/>
            <a:ahLst/>
            <a:cxnLst/>
            <a:rect l="l" t="t" r="r" b="b"/>
            <a:pathLst>
              <a:path w="4362450" h="64770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84416" y="5544721"/>
            <a:ext cx="4143375" cy="693096"/>
          </a:xfrm>
          <a:custGeom>
            <a:avLst/>
            <a:gdLst/>
            <a:ahLst/>
            <a:cxnLst/>
            <a:rect l="l" t="t" r="r" b="b"/>
            <a:pathLst>
              <a:path w="4143375" h="647700">
                <a:moveTo>
                  <a:pt x="0" y="0"/>
                </a:moveTo>
                <a:lnTo>
                  <a:pt x="4143375" y="0"/>
                </a:lnTo>
                <a:lnTo>
                  <a:pt x="4143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498389" y="5544721"/>
            <a:ext cx="4581525" cy="647700"/>
          </a:xfrm>
          <a:custGeom>
            <a:avLst/>
            <a:gdLst/>
            <a:ahLst/>
            <a:cxnLst/>
            <a:rect l="l" t="t" r="r" b="b"/>
            <a:pathLst>
              <a:path w="4581525" h="647700">
                <a:moveTo>
                  <a:pt x="0" y="0"/>
                </a:moveTo>
                <a:lnTo>
                  <a:pt x="4581525" y="0"/>
                </a:lnTo>
                <a:lnTo>
                  <a:pt x="4581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001304" y="158314"/>
            <a:ext cx="2534967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68"/>
              </a:lnSpc>
            </a:pPr>
            <a:r>
              <a:rPr lang="en-US" b="1" dirty="0">
                <a:solidFill>
                  <a:schemeClr val="accent6"/>
                </a:solidFill>
                <a:latin typeface="Roboto Bold"/>
                <a:ea typeface="Roboto Bold"/>
                <a:cs typeface="Roboto Bold"/>
                <a:sym typeface="Roboto Bold"/>
              </a:rPr>
              <a:t>VANRA DASHBOARD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30200" y="175115"/>
            <a:ext cx="1853848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68"/>
              </a:lnSpc>
            </a:pPr>
            <a:r>
              <a:rPr lang="en-US" sz="1600" b="1" dirty="0">
                <a:solidFill>
                  <a:schemeClr val="accent6"/>
                </a:solidFill>
                <a:latin typeface="Roboto Bold"/>
                <a:ea typeface="Roboto Bold"/>
                <a:cs typeface="Roboto Bold"/>
                <a:sym typeface="Roboto Bold"/>
              </a:rPr>
              <a:t>VANRA GIS MAP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081799" y="5803308"/>
            <a:ext cx="2571529" cy="238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68"/>
              </a:lnSpc>
            </a:pPr>
            <a:r>
              <a:rPr lang="en-US" sz="1557" b="1" dirty="0">
                <a:solidFill>
                  <a:schemeClr val="accent6"/>
                </a:solidFill>
                <a:latin typeface="Roboto Bold"/>
                <a:ea typeface="Roboto Bold"/>
                <a:cs typeface="Roboto Bold"/>
                <a:sym typeface="Roboto Bold"/>
              </a:rPr>
              <a:t>CLAIM INVESTIGATION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15316" y="5818598"/>
            <a:ext cx="1947672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sz="1600" b="1" dirty="0">
                <a:solidFill>
                  <a:schemeClr val="accent6"/>
                </a:solidFill>
                <a:latin typeface="Roboto Bold"/>
                <a:ea typeface="Roboto Bold"/>
                <a:cs typeface="Roboto Bold"/>
                <a:sym typeface="Roboto Bold"/>
              </a:rPr>
              <a:t>EVIDENCE GRAPH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6656" y="2983801"/>
            <a:ext cx="365760" cy="1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7"/>
              </a:lnSpc>
            </a:pPr>
            <a:r>
              <a:rPr lang="en-US" sz="848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VANRA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065776" y="2983801"/>
            <a:ext cx="365760" cy="1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7"/>
              </a:lnSpc>
            </a:pPr>
            <a:r>
              <a:rPr lang="en-US" sz="848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VANRA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81744" y="2983801"/>
            <a:ext cx="365760" cy="1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7"/>
              </a:lnSpc>
            </a:pPr>
            <a:r>
              <a:rPr lang="en-US" sz="848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VANRA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06272" y="2983801"/>
            <a:ext cx="365760" cy="13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7"/>
              </a:lnSpc>
            </a:pPr>
            <a:r>
              <a:rPr lang="en-US" sz="848" b="1" dirty="0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VANRA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6656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065776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81744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60627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08176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431536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747504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97203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4475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6811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84080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008608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4475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46811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784080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008608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4475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46811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784080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4008608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44475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46811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784080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008608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4475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468112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784080" y="3321749"/>
            <a:ext cx="182880" cy="9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"/>
              </a:lnSpc>
            </a:pPr>
            <a:r>
              <a:rPr lang="en-US" sz="600" b="1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2022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A2E865B-133D-C54B-10E5-3013FFDCB3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2"/>
          <a:stretch>
            <a:fillRect/>
          </a:stretch>
        </p:blipFill>
        <p:spPr>
          <a:xfrm>
            <a:off x="26613" y="562698"/>
            <a:ext cx="8826910" cy="51422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1E61183-2128-19C9-E847-2DBBA66AE1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4" r="9134"/>
          <a:stretch>
            <a:fillRect/>
          </a:stretch>
        </p:blipFill>
        <p:spPr>
          <a:xfrm>
            <a:off x="8869680" y="702564"/>
            <a:ext cx="9305519" cy="5002334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B5E7E07-8717-6BC9-DC6F-614333A8E0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42" y="6144049"/>
            <a:ext cx="8561536" cy="4106676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374732D1-90A4-BDD6-E852-1A23C408C3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91600" y="6306121"/>
            <a:ext cx="9305519" cy="39446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>
            <a:extLst>
              <a:ext uri="{FF2B5EF4-FFF2-40B4-BE49-F238E27FC236}">
                <a16:creationId xmlns:a16="http://schemas.microsoft.com/office/drawing/2014/main" id="{07296D5A-AAF5-319B-3AE3-1314F2473309}"/>
              </a:ext>
            </a:extLst>
          </p:cNvPr>
          <p:cNvSpPr/>
          <p:nvPr/>
        </p:nvSpPr>
        <p:spPr>
          <a:xfrm>
            <a:off x="0" y="-362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275CBA-EC6D-B597-85A7-15F12B533898}"/>
              </a:ext>
            </a:extLst>
          </p:cNvPr>
          <p:cNvSpPr/>
          <p:nvPr/>
        </p:nvSpPr>
        <p:spPr>
          <a:xfrm>
            <a:off x="1482243" y="-167928"/>
            <a:ext cx="5921399" cy="968027"/>
          </a:xfrm>
          <a:custGeom>
            <a:avLst/>
            <a:gdLst/>
            <a:ahLst/>
            <a:cxnLst/>
            <a:rect l="l" t="t" r="r" b="b"/>
            <a:pathLst>
              <a:path w="4362450" h="64770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47C04B1-176B-EC33-A4F0-72C76B3FD5D2}"/>
              </a:ext>
            </a:extLst>
          </p:cNvPr>
          <p:cNvSpPr/>
          <p:nvPr/>
        </p:nvSpPr>
        <p:spPr>
          <a:xfrm>
            <a:off x="11207109" y="-105369"/>
            <a:ext cx="5486836" cy="905467"/>
          </a:xfrm>
          <a:custGeom>
            <a:avLst/>
            <a:gdLst/>
            <a:ahLst/>
            <a:cxnLst/>
            <a:rect l="l" t="t" r="r" b="b"/>
            <a:pathLst>
              <a:path w="4362450" h="647700">
                <a:moveTo>
                  <a:pt x="0" y="0"/>
                </a:moveTo>
                <a:lnTo>
                  <a:pt x="4362450" y="0"/>
                </a:lnTo>
                <a:lnTo>
                  <a:pt x="43624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06CB093-EAD8-CD33-8114-3B11EA8D7CDE}"/>
              </a:ext>
            </a:extLst>
          </p:cNvPr>
          <p:cNvSpPr/>
          <p:nvPr/>
        </p:nvSpPr>
        <p:spPr>
          <a:xfrm>
            <a:off x="1482243" y="4686300"/>
            <a:ext cx="5921399" cy="1084006"/>
          </a:xfrm>
          <a:custGeom>
            <a:avLst/>
            <a:gdLst/>
            <a:ahLst/>
            <a:cxnLst/>
            <a:rect l="l" t="t" r="r" b="b"/>
            <a:pathLst>
              <a:path w="4143375" h="647700">
                <a:moveTo>
                  <a:pt x="0" y="0"/>
                </a:moveTo>
                <a:lnTo>
                  <a:pt x="4143375" y="0"/>
                </a:lnTo>
                <a:lnTo>
                  <a:pt x="4143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116499E-C5F8-2292-EE60-8C084DFE01C0}"/>
              </a:ext>
            </a:extLst>
          </p:cNvPr>
          <p:cNvSpPr/>
          <p:nvPr/>
        </p:nvSpPr>
        <p:spPr>
          <a:xfrm>
            <a:off x="11368822" y="4633514"/>
            <a:ext cx="5486836" cy="1019972"/>
          </a:xfrm>
          <a:custGeom>
            <a:avLst/>
            <a:gdLst/>
            <a:ahLst/>
            <a:cxnLst/>
            <a:rect l="l" t="t" r="r" b="b"/>
            <a:pathLst>
              <a:path w="4581525" h="647700">
                <a:moveTo>
                  <a:pt x="0" y="0"/>
                </a:moveTo>
                <a:lnTo>
                  <a:pt x="4581525" y="0"/>
                </a:lnTo>
                <a:lnTo>
                  <a:pt x="4581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9E0B6-EED4-D805-7B06-BCA72FE3E98C}"/>
              </a:ext>
            </a:extLst>
          </p:cNvPr>
          <p:cNvSpPr txBox="1"/>
          <p:nvPr/>
        </p:nvSpPr>
        <p:spPr>
          <a:xfrm>
            <a:off x="13258800" y="4955437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chemeClr val="accent6"/>
                </a:solidFill>
              </a:rPr>
              <a:t>FRA COPILOT</a:t>
            </a:r>
            <a:endParaRPr lang="en-IN" sz="2400" b="1" i="1" dirty="0">
              <a:solidFill>
                <a:schemeClr val="accent6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A5FE9E1-9B35-A719-B9AF-6D3C96F4D9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21" t="11651"/>
          <a:stretch>
            <a:fillRect/>
          </a:stretch>
        </p:blipFill>
        <p:spPr>
          <a:xfrm>
            <a:off x="375620" y="627173"/>
            <a:ext cx="8768380" cy="424272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FE9EF1E-F244-24F9-A6ED-E58ECC8D5497}"/>
              </a:ext>
            </a:extLst>
          </p:cNvPr>
          <p:cNvSpPr txBox="1"/>
          <p:nvPr/>
        </p:nvSpPr>
        <p:spPr>
          <a:xfrm>
            <a:off x="2971800" y="227063"/>
            <a:ext cx="388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 INVESTIGATION TIME LINE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E5A7117-4EA0-AE73-E09B-220A844D1F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3999" y="800098"/>
            <a:ext cx="8768380" cy="406980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7893B46-D7E6-EDC0-AC2C-C0BF0E677D3A}"/>
              </a:ext>
            </a:extLst>
          </p:cNvPr>
          <p:cNvSpPr txBox="1"/>
          <p:nvPr/>
        </p:nvSpPr>
        <p:spPr>
          <a:xfrm>
            <a:off x="12664440" y="227063"/>
            <a:ext cx="289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AI DECISION SUPPORT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659585F-8665-9D74-03A2-A9533BED14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672188"/>
            <a:ext cx="9143999" cy="457853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0984A3B-F637-024C-685E-7F47D342FAB8}"/>
              </a:ext>
            </a:extLst>
          </p:cNvPr>
          <p:cNvSpPr txBox="1"/>
          <p:nvPr/>
        </p:nvSpPr>
        <p:spPr>
          <a:xfrm>
            <a:off x="2843810" y="5040211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Anomaly Detection Engine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7FE42E8-FF3A-BC2F-52FB-2DD1F1E9A8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1809" y="5548756"/>
            <a:ext cx="8768380" cy="470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21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70048" y="603735"/>
            <a:ext cx="12947904" cy="191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3"/>
              </a:lnSpc>
            </a:pPr>
            <a:r>
              <a:rPr lang="en-US" sz="6803" b="1">
                <a:solidFill>
                  <a:srgbClr val="1A4534"/>
                </a:solidFill>
                <a:latin typeface="Roboto Bold"/>
                <a:ea typeface="Roboto Bold"/>
                <a:cs typeface="Roboto Bold"/>
                <a:sym typeface="Roboto Bold"/>
              </a:rPr>
              <a:t>VANRA – From Scattered Claims to Explainable Decisions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2781300"/>
            <a:ext cx="2400300" cy="1295400"/>
          </a:xfrm>
          <a:custGeom>
            <a:avLst/>
            <a:gdLst/>
            <a:ahLst/>
            <a:cxnLst/>
            <a:rect l="l" t="t" r="r" b="b"/>
            <a:pathLst>
              <a:path w="2400300" h="1295400">
                <a:moveTo>
                  <a:pt x="0" y="0"/>
                </a:moveTo>
                <a:lnTo>
                  <a:pt x="2400300" y="0"/>
                </a:lnTo>
                <a:lnTo>
                  <a:pt x="240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22960" y="2908119"/>
            <a:ext cx="2066544" cy="101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30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GIS</a:t>
            </a:r>
          </a:p>
          <a:p>
            <a:pPr algn="ctr">
              <a:lnSpc>
                <a:spcPts val="4005"/>
              </a:lnSpc>
            </a:pPr>
            <a:r>
              <a:rPr lang="en-US" sz="30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Intelligence</a:t>
            </a:r>
          </a:p>
        </p:txBody>
      </p:sp>
      <p:sp>
        <p:nvSpPr>
          <p:cNvPr id="6" name="Freeform 6"/>
          <p:cNvSpPr/>
          <p:nvPr/>
        </p:nvSpPr>
        <p:spPr>
          <a:xfrm>
            <a:off x="2828925" y="3209925"/>
            <a:ext cx="876300" cy="438150"/>
          </a:xfrm>
          <a:custGeom>
            <a:avLst/>
            <a:gdLst/>
            <a:ahLst/>
            <a:cxnLst/>
            <a:rect l="l" t="t" r="r" b="b"/>
            <a:pathLst>
              <a:path w="876300" h="43815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476625" y="2781300"/>
            <a:ext cx="2409825" cy="1295400"/>
          </a:xfrm>
          <a:custGeom>
            <a:avLst/>
            <a:gdLst/>
            <a:ahLst/>
            <a:cxnLst/>
            <a:rect l="l" t="t" r="r" b="b"/>
            <a:pathLst>
              <a:path w="2409825" h="1295400">
                <a:moveTo>
                  <a:pt x="0" y="0"/>
                </a:moveTo>
                <a:lnTo>
                  <a:pt x="2409825" y="0"/>
                </a:lnTo>
                <a:lnTo>
                  <a:pt x="24098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639312" y="2908119"/>
            <a:ext cx="2066544" cy="101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30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Anomaly Detection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5657850" y="3209925"/>
            <a:ext cx="876300" cy="438150"/>
          </a:xfrm>
          <a:custGeom>
            <a:avLst/>
            <a:gdLst/>
            <a:ahLst/>
            <a:cxnLst/>
            <a:rect l="l" t="t" r="r" b="b"/>
            <a:pathLst>
              <a:path w="876300" h="43815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05550" y="2781300"/>
            <a:ext cx="2409825" cy="1295400"/>
          </a:xfrm>
          <a:custGeom>
            <a:avLst/>
            <a:gdLst/>
            <a:ahLst/>
            <a:cxnLst/>
            <a:rect l="l" t="t" r="r" b="b"/>
            <a:pathLst>
              <a:path w="2409825" h="1295400">
                <a:moveTo>
                  <a:pt x="0" y="0"/>
                </a:moveTo>
                <a:lnTo>
                  <a:pt x="2409825" y="0"/>
                </a:lnTo>
                <a:lnTo>
                  <a:pt x="24098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473952" y="2945318"/>
            <a:ext cx="2066544" cy="95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1"/>
              </a:lnSpc>
            </a:pPr>
            <a:r>
              <a:rPr lang="en-US" sz="29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Explainable Risk Scoring</a:t>
            </a:r>
          </a:p>
        </p:txBody>
      </p:sp>
      <p:sp>
        <p:nvSpPr>
          <p:cNvPr id="12" name="Freeform 12"/>
          <p:cNvSpPr/>
          <p:nvPr/>
        </p:nvSpPr>
        <p:spPr>
          <a:xfrm>
            <a:off x="8486775" y="3209925"/>
            <a:ext cx="876300" cy="438150"/>
          </a:xfrm>
          <a:custGeom>
            <a:avLst/>
            <a:gdLst/>
            <a:ahLst/>
            <a:cxnLst/>
            <a:rect l="l" t="t" r="r" b="b"/>
            <a:pathLst>
              <a:path w="876300" h="43815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144000" y="2781300"/>
            <a:ext cx="2400300" cy="1295400"/>
          </a:xfrm>
          <a:custGeom>
            <a:avLst/>
            <a:gdLst/>
            <a:ahLst/>
            <a:cxnLst/>
            <a:rect l="l" t="t" r="r" b="b"/>
            <a:pathLst>
              <a:path w="2400300" h="1295400">
                <a:moveTo>
                  <a:pt x="0" y="0"/>
                </a:moveTo>
                <a:lnTo>
                  <a:pt x="2400300" y="0"/>
                </a:lnTo>
                <a:lnTo>
                  <a:pt x="240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290304" y="2954168"/>
            <a:ext cx="2066544" cy="93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3"/>
              </a:lnSpc>
            </a:pPr>
            <a:r>
              <a:rPr lang="en-US" sz="28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Claim Investigation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315700" y="3209925"/>
            <a:ext cx="1095375" cy="438150"/>
          </a:xfrm>
          <a:custGeom>
            <a:avLst/>
            <a:gdLst/>
            <a:ahLst/>
            <a:cxnLst/>
            <a:rect l="l" t="t" r="r" b="b"/>
            <a:pathLst>
              <a:path w="1095375" h="438150">
                <a:moveTo>
                  <a:pt x="0" y="0"/>
                </a:moveTo>
                <a:lnTo>
                  <a:pt x="1095375" y="0"/>
                </a:lnTo>
                <a:lnTo>
                  <a:pt x="1095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192000" y="2781300"/>
            <a:ext cx="2619375" cy="1295400"/>
          </a:xfrm>
          <a:custGeom>
            <a:avLst/>
            <a:gdLst/>
            <a:ahLst/>
            <a:cxnLst/>
            <a:rect l="l" t="t" r="r" b="b"/>
            <a:pathLst>
              <a:path w="2619375" h="1295400">
                <a:moveTo>
                  <a:pt x="0" y="0"/>
                </a:moveTo>
                <a:lnTo>
                  <a:pt x="2619375" y="0"/>
                </a:lnTo>
                <a:lnTo>
                  <a:pt x="2619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307824" y="2917193"/>
            <a:ext cx="2322576" cy="999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3"/>
              </a:lnSpc>
            </a:pPr>
            <a:r>
              <a:rPr lang="en-US" sz="30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Priority &amp; Early Warning</a:t>
            </a:r>
          </a:p>
        </p:txBody>
      </p:sp>
      <p:sp>
        <p:nvSpPr>
          <p:cNvPr id="18" name="Freeform 18"/>
          <p:cNvSpPr/>
          <p:nvPr/>
        </p:nvSpPr>
        <p:spPr>
          <a:xfrm>
            <a:off x="14582775" y="3209925"/>
            <a:ext cx="876300" cy="438150"/>
          </a:xfrm>
          <a:custGeom>
            <a:avLst/>
            <a:gdLst/>
            <a:ahLst/>
            <a:cxnLst/>
            <a:rect l="l" t="t" r="r" b="b"/>
            <a:pathLst>
              <a:path w="876300" h="438150">
                <a:moveTo>
                  <a:pt x="0" y="0"/>
                </a:moveTo>
                <a:lnTo>
                  <a:pt x="876300" y="0"/>
                </a:lnTo>
                <a:lnTo>
                  <a:pt x="876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240000" y="2781300"/>
            <a:ext cx="2400300" cy="1295400"/>
          </a:xfrm>
          <a:custGeom>
            <a:avLst/>
            <a:gdLst/>
            <a:ahLst/>
            <a:cxnLst/>
            <a:rect l="l" t="t" r="r" b="b"/>
            <a:pathLst>
              <a:path w="2400300" h="1295400">
                <a:moveTo>
                  <a:pt x="0" y="0"/>
                </a:moveTo>
                <a:lnTo>
                  <a:pt x="2400300" y="0"/>
                </a:lnTo>
                <a:lnTo>
                  <a:pt x="24003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449550" y="2143125"/>
            <a:ext cx="228600" cy="219075"/>
          </a:xfrm>
          <a:custGeom>
            <a:avLst/>
            <a:gdLst/>
            <a:ahLst/>
            <a:cxnLst/>
            <a:rect l="l" t="t" r="r" b="b"/>
            <a:pathLst>
              <a:path w="228600" h="219075">
                <a:moveTo>
                  <a:pt x="0" y="0"/>
                </a:moveTo>
                <a:lnTo>
                  <a:pt x="228600" y="0"/>
                </a:lnTo>
                <a:lnTo>
                  <a:pt x="22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517136" y="4376051"/>
            <a:ext cx="2542032" cy="1076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02"/>
              </a:lnSpc>
            </a:pPr>
            <a:r>
              <a:rPr lang="en-US" sz="7548" b="1">
                <a:solidFill>
                  <a:srgbClr val="1A4534"/>
                </a:solidFill>
                <a:latin typeface="Roboto Bold"/>
                <a:ea typeface="Roboto Bold"/>
                <a:cs typeface="Roboto Bold"/>
                <a:sym typeface="Roboto Bold"/>
              </a:rPr>
              <a:t>4,781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21808" y="5455884"/>
            <a:ext cx="987552" cy="406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514">
                <a:solidFill>
                  <a:srgbClr val="1A4534"/>
                </a:solidFill>
                <a:latin typeface="Roboto"/>
                <a:ea typeface="Roboto"/>
                <a:cs typeface="Roboto"/>
                <a:sym typeface="Roboto"/>
              </a:rPr>
              <a:t>Claims</a:t>
            </a:r>
          </a:p>
        </p:txBody>
      </p:sp>
      <p:sp>
        <p:nvSpPr>
          <p:cNvPr id="23" name="Freeform 23"/>
          <p:cNvSpPr/>
          <p:nvPr/>
        </p:nvSpPr>
        <p:spPr>
          <a:xfrm>
            <a:off x="7829550" y="4286250"/>
            <a:ext cx="228600" cy="1714500"/>
          </a:xfrm>
          <a:custGeom>
            <a:avLst/>
            <a:gdLst/>
            <a:ahLst/>
            <a:cxnLst/>
            <a:rect l="l" t="t" r="r" b="b"/>
            <a:pathLst>
              <a:path w="228600" h="1714500">
                <a:moveTo>
                  <a:pt x="0" y="0"/>
                </a:moveTo>
                <a:lnTo>
                  <a:pt x="228600" y="0"/>
                </a:lnTo>
                <a:lnTo>
                  <a:pt x="228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034272" y="4376051"/>
            <a:ext cx="1188720" cy="1076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02"/>
              </a:lnSpc>
            </a:pPr>
            <a:r>
              <a:rPr lang="en-US" sz="7548" b="1">
                <a:solidFill>
                  <a:srgbClr val="1A4534"/>
                </a:solidFill>
                <a:latin typeface="Roboto Bold"/>
                <a:ea typeface="Roboto Bold"/>
                <a:cs typeface="Roboto Bold"/>
                <a:sym typeface="Roboto Bold"/>
              </a:rPr>
              <a:t>36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97696" y="5455884"/>
            <a:ext cx="1243584" cy="406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514">
                <a:solidFill>
                  <a:srgbClr val="1A4534"/>
                </a:solidFill>
                <a:latin typeface="Roboto"/>
                <a:ea typeface="Roboto"/>
                <a:cs typeface="Roboto"/>
                <a:sym typeface="Roboto"/>
              </a:rPr>
              <a:t>Districts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096625" y="4286250"/>
            <a:ext cx="228600" cy="1714500"/>
          </a:xfrm>
          <a:custGeom>
            <a:avLst/>
            <a:gdLst/>
            <a:ahLst/>
            <a:cxnLst/>
            <a:rect l="l" t="t" r="r" b="b"/>
            <a:pathLst>
              <a:path w="228600" h="1714500">
                <a:moveTo>
                  <a:pt x="0" y="0"/>
                </a:moveTo>
                <a:lnTo>
                  <a:pt x="228600" y="0"/>
                </a:lnTo>
                <a:lnTo>
                  <a:pt x="228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2545568" y="4376051"/>
            <a:ext cx="548640" cy="1076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02"/>
              </a:lnSpc>
            </a:pPr>
            <a:r>
              <a:rPr lang="en-US" sz="7548" b="1">
                <a:solidFill>
                  <a:srgbClr val="1A4534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62688" y="5455884"/>
            <a:ext cx="932688" cy="406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514">
                <a:solidFill>
                  <a:srgbClr val="1A4534"/>
                </a:solidFill>
                <a:latin typeface="Roboto"/>
                <a:ea typeface="Roboto"/>
                <a:cs typeface="Roboto"/>
                <a:sym typeface="Roboto"/>
              </a:rPr>
              <a:t>States</a:t>
            </a:r>
          </a:p>
        </p:txBody>
      </p:sp>
      <p:sp>
        <p:nvSpPr>
          <p:cNvPr id="29" name="Freeform 29"/>
          <p:cNvSpPr/>
          <p:nvPr/>
        </p:nvSpPr>
        <p:spPr>
          <a:xfrm>
            <a:off x="9906000" y="6457206"/>
            <a:ext cx="8067675" cy="2362200"/>
          </a:xfrm>
          <a:custGeom>
            <a:avLst/>
            <a:gdLst/>
            <a:ahLst/>
            <a:cxnLst/>
            <a:rect l="l" t="t" r="r" b="b"/>
            <a:pathLst>
              <a:path w="8067675" h="2362200">
                <a:moveTo>
                  <a:pt x="0" y="0"/>
                </a:moveTo>
                <a:lnTo>
                  <a:pt x="8067675" y="0"/>
                </a:lnTo>
                <a:lnTo>
                  <a:pt x="8067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0469880" y="6725788"/>
            <a:ext cx="7187184" cy="1587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9"/>
              </a:lnSpc>
            </a:pPr>
            <a:r>
              <a:rPr lang="en-US" sz="2833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VANRA </a:t>
            </a:r>
            <a:r>
              <a:rPr lang="en-US" sz="2833" b="1" dirty="0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does not grant or deny forest rights.</a:t>
            </a:r>
          </a:p>
          <a:p>
            <a:pPr algn="ctr">
              <a:lnSpc>
                <a:spcPts val="4249"/>
              </a:lnSpc>
            </a:pPr>
            <a:r>
              <a:rPr lang="en-US" sz="2833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It gives decision-makers the </a:t>
            </a:r>
            <a:r>
              <a:rPr lang="en-US" sz="2833" b="1" dirty="0">
                <a:solidFill>
                  <a:srgbClr val="E19D3C"/>
                </a:solidFill>
                <a:latin typeface="Roboto Bold"/>
                <a:ea typeface="Roboto Bold"/>
                <a:cs typeface="Roboto Bold"/>
                <a:sym typeface="Roboto Bold"/>
              </a:rPr>
              <a:t>intelligence</a:t>
            </a:r>
          </a:p>
          <a:p>
            <a:pPr algn="ctr">
              <a:lnSpc>
                <a:spcPts val="4249"/>
              </a:lnSpc>
            </a:pPr>
            <a:r>
              <a:rPr lang="en-US" sz="2833" b="1" dirty="0">
                <a:solidFill>
                  <a:srgbClr val="E19D3C"/>
                </a:solidFill>
                <a:latin typeface="Roboto Bold"/>
                <a:ea typeface="Roboto Bold"/>
                <a:cs typeface="Roboto Bold"/>
                <a:sym typeface="Roboto Bold"/>
              </a:rPr>
              <a:t>to know where to look first.</a:t>
            </a:r>
          </a:p>
        </p:txBody>
      </p:sp>
      <p:sp>
        <p:nvSpPr>
          <p:cNvPr id="31" name="Freeform 31"/>
          <p:cNvSpPr/>
          <p:nvPr/>
        </p:nvSpPr>
        <p:spPr>
          <a:xfrm>
            <a:off x="0" y="9429750"/>
            <a:ext cx="18288000" cy="857250"/>
          </a:xfrm>
          <a:custGeom>
            <a:avLst/>
            <a:gdLst/>
            <a:ahLst/>
            <a:cxnLst/>
            <a:rect l="l" t="t" r="r" b="b"/>
            <a:pathLst>
              <a:path w="18288000" h="857250">
                <a:moveTo>
                  <a:pt x="0" y="0"/>
                </a:moveTo>
                <a:lnTo>
                  <a:pt x="18288000" y="0"/>
                </a:lnTo>
                <a:lnTo>
                  <a:pt x="182880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580651" y="9639300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3504951" y="9639300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5416784" y="2908119"/>
            <a:ext cx="2066544" cy="101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30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Decision Copilot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28944" y="9800776"/>
            <a:ext cx="3529584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2"/>
              </a:lnSpc>
            </a:pPr>
            <a:r>
              <a:rPr lang="en-US" sz="191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Science Club of VIT Bhopal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27005" y="9837058"/>
            <a:ext cx="3255264" cy="281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1"/>
              </a:lnSpc>
            </a:pPr>
            <a:r>
              <a:rPr lang="en-US" sz="1947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Origin Hackathon 2026 | PS-7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832586" y="9800776"/>
            <a:ext cx="1700784" cy="32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3"/>
              </a:lnSpc>
            </a:pPr>
            <a:r>
              <a:rPr lang="en-US" sz="2230" b="1" dirty="0">
                <a:solidFill>
                  <a:srgbClr val="E19D3C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39" name="Freeform 32">
            <a:extLst>
              <a:ext uri="{FF2B5EF4-FFF2-40B4-BE49-F238E27FC236}">
                <a16:creationId xmlns:a16="http://schemas.microsoft.com/office/drawing/2014/main" id="{120BE083-8694-F350-6614-556C14C81D69}"/>
              </a:ext>
            </a:extLst>
          </p:cNvPr>
          <p:cNvSpPr/>
          <p:nvPr/>
        </p:nvSpPr>
        <p:spPr>
          <a:xfrm>
            <a:off x="5638050" y="9590809"/>
            <a:ext cx="228600" cy="647700"/>
          </a:xfrm>
          <a:custGeom>
            <a:avLst/>
            <a:gdLst/>
            <a:ahLst/>
            <a:cxnLst/>
            <a:rect l="l" t="t" r="r" b="b"/>
            <a:pathLst>
              <a:path w="228600" h="6477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1" name="TextBox 35">
            <a:extLst>
              <a:ext uri="{FF2B5EF4-FFF2-40B4-BE49-F238E27FC236}">
                <a16:creationId xmlns:a16="http://schemas.microsoft.com/office/drawing/2014/main" id="{7DE6BC82-B116-9F3F-ECFE-EB08C2EF199F}"/>
              </a:ext>
            </a:extLst>
          </p:cNvPr>
          <p:cNvSpPr txBox="1"/>
          <p:nvPr/>
        </p:nvSpPr>
        <p:spPr>
          <a:xfrm>
            <a:off x="2625477" y="9800776"/>
            <a:ext cx="3783318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2"/>
              </a:lnSpc>
            </a:pPr>
            <a:r>
              <a:rPr lang="en-US" sz="191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Team Maverick Trio</a:t>
            </a:r>
          </a:p>
        </p:txBody>
      </p:sp>
      <p:sp>
        <p:nvSpPr>
          <p:cNvPr id="43" name="Freeform 16">
            <a:extLst>
              <a:ext uri="{FF2B5EF4-FFF2-40B4-BE49-F238E27FC236}">
                <a16:creationId xmlns:a16="http://schemas.microsoft.com/office/drawing/2014/main" id="{1FE718BB-E76B-202F-5876-A186AEFA4F07}"/>
              </a:ext>
            </a:extLst>
          </p:cNvPr>
          <p:cNvSpPr/>
          <p:nvPr/>
        </p:nvSpPr>
        <p:spPr>
          <a:xfrm>
            <a:off x="316230" y="6063331"/>
            <a:ext cx="6324600" cy="1504950"/>
          </a:xfrm>
          <a:custGeom>
            <a:avLst/>
            <a:gdLst/>
            <a:ahLst/>
            <a:cxnLst/>
            <a:rect l="l" t="t" r="r" b="b"/>
            <a:pathLst>
              <a:path w="6324600" h="1504950">
                <a:moveTo>
                  <a:pt x="0" y="0"/>
                </a:moveTo>
                <a:lnTo>
                  <a:pt x="6324600" y="0"/>
                </a:lnTo>
                <a:lnTo>
                  <a:pt x="6324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5" name="Freeform 17">
            <a:extLst>
              <a:ext uri="{FF2B5EF4-FFF2-40B4-BE49-F238E27FC236}">
                <a16:creationId xmlns:a16="http://schemas.microsoft.com/office/drawing/2014/main" id="{390679DD-248C-C3C9-469E-172CC8341BCC}"/>
              </a:ext>
            </a:extLst>
          </p:cNvPr>
          <p:cNvSpPr/>
          <p:nvPr/>
        </p:nvSpPr>
        <p:spPr>
          <a:xfrm>
            <a:off x="889635" y="6126068"/>
            <a:ext cx="885825" cy="1076325"/>
          </a:xfrm>
          <a:custGeom>
            <a:avLst/>
            <a:gdLst/>
            <a:ahLst/>
            <a:cxnLst/>
            <a:rect l="l" t="t" r="r" b="b"/>
            <a:pathLst>
              <a:path w="885825" h="10763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7" name="TextBox 18">
            <a:extLst>
              <a:ext uri="{FF2B5EF4-FFF2-40B4-BE49-F238E27FC236}">
                <a16:creationId xmlns:a16="http://schemas.microsoft.com/office/drawing/2014/main" id="{10E3C97B-3DF7-93C0-2A5A-0D617C02F89E}"/>
              </a:ext>
            </a:extLst>
          </p:cNvPr>
          <p:cNvSpPr txBox="1"/>
          <p:nvPr/>
        </p:nvSpPr>
        <p:spPr>
          <a:xfrm>
            <a:off x="2058162" y="6233129"/>
            <a:ext cx="268833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5"/>
              </a:lnSpc>
            </a:pPr>
            <a:r>
              <a:rPr lang="en-US" sz="3471" b="1" dirty="0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LIVE VANRA</a:t>
            </a:r>
          </a:p>
        </p:txBody>
      </p:sp>
      <p:sp>
        <p:nvSpPr>
          <p:cNvPr id="49" name="TextBox 19">
            <a:extLst>
              <a:ext uri="{FF2B5EF4-FFF2-40B4-BE49-F238E27FC236}">
                <a16:creationId xmlns:a16="http://schemas.microsoft.com/office/drawing/2014/main" id="{5291CCF1-DBC5-4CC1-1A47-58A516ADDAA7}"/>
              </a:ext>
            </a:extLst>
          </p:cNvPr>
          <p:cNvSpPr txBox="1"/>
          <p:nvPr/>
        </p:nvSpPr>
        <p:spPr>
          <a:xfrm>
            <a:off x="1889760" y="6878286"/>
            <a:ext cx="4415790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6"/>
              </a:lnSpc>
            </a:pPr>
            <a:r>
              <a:rPr lang="en-US" sz="2000" b="1" dirty="0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[ https://origin-red.vercel.app/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994</Words>
  <Application>Microsoft Office PowerPoint</Application>
  <PresentationFormat>Custom</PresentationFormat>
  <Paragraphs>285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Klein Bold</vt:lpstr>
      <vt:lpstr>Aptos</vt:lpstr>
      <vt:lpstr>Inter Italics</vt:lpstr>
      <vt:lpstr>Poppins Bold</vt:lpstr>
      <vt:lpstr>Roboto Italics</vt:lpstr>
      <vt:lpstr>Barlow Semi-Bold</vt:lpstr>
      <vt:lpstr>Calibri</vt:lpstr>
      <vt:lpstr>Roboto</vt:lpstr>
      <vt:lpstr>Roboto Bold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UMANG PATEL</cp:lastModifiedBy>
  <cp:revision>4</cp:revision>
  <dcterms:created xsi:type="dcterms:W3CDTF">2006-08-16T00:00:00Z</dcterms:created>
  <dcterms:modified xsi:type="dcterms:W3CDTF">2026-09-05T02:08:12Z</dcterms:modified>
  <dc:identifier>DAHUSCd5qTU</dc:identifier>
</cp:coreProperties>
</file>